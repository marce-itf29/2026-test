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Slab"/>
      <p:regular r:id="rId25"/>
      <p:bold r:id="rId26"/>
    </p:embeddedFon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1" roundtripDataSignature="AMtx7mieGZ8cS4yuI64dUA0ucK/fDqPH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f79d3b6149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1f79d3b6149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46f7f51f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46f7f51fe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6f7f51fe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46f7f51fe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6f7f51fe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46f7f51fef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6f7f51fe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46f7f51fef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46f7f51fe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346f7f51fef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6f7f51fe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46f7f51fef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46f7f51fe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46f7f51fef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6f7f51fe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346f7f51fef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64d04520d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364d04520d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6f7f51fe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46f7f51fef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6f7f51fef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g346f7f51fef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6f7f51fe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346f7f51fef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6f7f51fe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46f7f51fef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6a004132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346a004132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64d04520d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364d04520de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64d04520d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g364d04520de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4d04520d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g364d04520d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Semana 3 - Caja Blanca</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1f79d3b6149_0_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rPr lang="es" sz="5600"/>
              <a:t>Esta estrategia de testing consiste en un enfoque de pruebas en el que el tester tiene acceso completo al código fuente del sistema y realiza pruebas basándose en la estructura interna del programa. Se enfoca en verificar cómo el código se ejecuta, asegurando que todas las rutas, condiciones y decisiones del programa funcionen correctamente.</a:t>
            </a:r>
            <a:endParaRPr sz="5600"/>
          </a:p>
          <a:p>
            <a:pPr indent="0" lvl="0" marL="0" rtl="0" algn="just">
              <a:lnSpc>
                <a:spcPct val="150000"/>
              </a:lnSpc>
              <a:spcBef>
                <a:spcPts val="1200"/>
              </a:spcBef>
              <a:spcAft>
                <a:spcPts val="0"/>
              </a:spcAft>
              <a:buSzPct val="128571"/>
              <a:buNone/>
            </a:pPr>
            <a:r>
              <a:rPr lang="es" sz="5600"/>
              <a:t>Hay que señalar que no todos los errores de software se pueden descubrir verificando todas las rutas de un programa, hay errores que se descubren al integrar unidades del sistema y pueden existir errores que no tengan relación con el código específicamente</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0" name="Google Shape;70;g1f79d3b6149_0_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Estrategia de Caja Blanca</a:t>
            </a:r>
            <a:endParaRPr/>
          </a:p>
        </p:txBody>
      </p:sp>
      <p:pic>
        <p:nvPicPr>
          <p:cNvPr id="71" name="Google Shape;71;g1f79d3b6149_0_4"/>
          <p:cNvPicPr preferRelativeResize="0"/>
          <p:nvPr/>
        </p:nvPicPr>
        <p:blipFill rotWithShape="1">
          <a:blip r:embed="rId3">
            <a:alphaModFix/>
          </a:blip>
          <a:srcRect b="0" l="0" r="0" t="0"/>
          <a:stretch/>
        </p:blipFill>
        <p:spPr>
          <a:xfrm>
            <a:off x="5416650" y="-3200"/>
            <a:ext cx="3727350" cy="15901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46f7f51fef_0_1"/>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t/>
            </a:r>
            <a:endParaRPr sz="5600"/>
          </a:p>
          <a:p>
            <a:pPr indent="-317500" lvl="0" marL="457200" rtl="0" algn="just">
              <a:lnSpc>
                <a:spcPct val="150000"/>
              </a:lnSpc>
              <a:spcBef>
                <a:spcPts val="0"/>
              </a:spcBef>
              <a:spcAft>
                <a:spcPts val="0"/>
              </a:spcAft>
              <a:buSzPct val="100000"/>
              <a:buChar char="❖"/>
            </a:pPr>
            <a:r>
              <a:rPr lang="es" sz="5600"/>
              <a:t>Cobertura de sentencias.</a:t>
            </a:r>
            <a:endParaRPr sz="5600"/>
          </a:p>
          <a:p>
            <a:pPr indent="-317500" lvl="0" marL="457200" rtl="0" algn="just">
              <a:lnSpc>
                <a:spcPct val="150000"/>
              </a:lnSpc>
              <a:spcBef>
                <a:spcPts val="0"/>
              </a:spcBef>
              <a:spcAft>
                <a:spcPts val="0"/>
              </a:spcAft>
              <a:buSzPct val="100000"/>
              <a:buChar char="❖"/>
            </a:pPr>
            <a:r>
              <a:rPr lang="es" sz="5600"/>
              <a:t>Cobertura de decisión. </a:t>
            </a:r>
            <a:endParaRPr sz="5600"/>
          </a:p>
          <a:p>
            <a:pPr indent="-317500" lvl="0" marL="457200" rtl="0" algn="just">
              <a:lnSpc>
                <a:spcPct val="150000"/>
              </a:lnSpc>
              <a:spcBef>
                <a:spcPts val="0"/>
              </a:spcBef>
              <a:spcAft>
                <a:spcPts val="0"/>
              </a:spcAft>
              <a:buSzPct val="100000"/>
              <a:buChar char="❖"/>
            </a:pPr>
            <a:r>
              <a:rPr lang="es" sz="5600"/>
              <a:t>Cobertura de condición. </a:t>
            </a:r>
            <a:endParaRPr sz="5600"/>
          </a:p>
          <a:p>
            <a:pPr indent="-317500" lvl="0" marL="457200" rtl="0" algn="just">
              <a:lnSpc>
                <a:spcPct val="150000"/>
              </a:lnSpc>
              <a:spcBef>
                <a:spcPts val="0"/>
              </a:spcBef>
              <a:spcAft>
                <a:spcPts val="0"/>
              </a:spcAft>
              <a:buSzPct val="100000"/>
              <a:buChar char="❖"/>
            </a:pPr>
            <a:r>
              <a:rPr lang="es" sz="5600"/>
              <a:t>Cobertura de condición múltiple</a:t>
            </a:r>
            <a:endParaRPr sz="5600"/>
          </a:p>
          <a:p>
            <a:pPr indent="-317500" lvl="0" marL="457200" rtl="0" algn="just">
              <a:lnSpc>
                <a:spcPct val="150000"/>
              </a:lnSpc>
              <a:spcBef>
                <a:spcPts val="0"/>
              </a:spcBef>
              <a:spcAft>
                <a:spcPts val="0"/>
              </a:spcAft>
              <a:buSzPct val="100000"/>
              <a:buChar char="❖"/>
            </a:pPr>
            <a:r>
              <a:rPr lang="es" sz="5600"/>
              <a:t>Cobertura de decisión/condición.</a:t>
            </a:r>
            <a:endParaRPr sz="5600"/>
          </a:p>
          <a:p>
            <a:pPr indent="0" lvl="0" marL="0" rtl="0" algn="just">
              <a:lnSpc>
                <a:spcPct val="150000"/>
              </a:lnSpc>
              <a:spcBef>
                <a:spcPts val="1200"/>
              </a:spcBef>
              <a:spcAft>
                <a:spcPts val="0"/>
              </a:spcAft>
              <a:buSzPct val="128571"/>
              <a:buNone/>
            </a:pPr>
            <a:r>
              <a:rPr lang="es" sz="5600"/>
              <a:t>Importante: No es necesario realizar todos los métodos, se seleccionan según las necesidades del proyecto. Cada uno de estos métodos tiene un enfoque específico para evaluar diferentes aspectos del código y la cobertura.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77" name="Google Shape;77;g346f7f51fef_0_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Métodos de Caja Blanca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46f7f51fef_0_7"/>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Con esta técnica, el objetivo es ejecutar todas las sentencias declarativas al menos una vez, de forma tal que cada línea de código se ejecute al menos una vez.  Esto quiere decir que vamos a diseñar casos de prueba de forma tal que fuercen a pasar por todas las sentencias.</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83" name="Google Shape;83;g346f7f51fef_0_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sentencias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46f7f51fef_0_13"/>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89" name="Google Shape;89;g346f7f51fef_0_1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sentencias</a:t>
            </a:r>
            <a:endParaRPr/>
          </a:p>
        </p:txBody>
      </p:sp>
      <p:pic>
        <p:nvPicPr>
          <p:cNvPr id="90" name="Google Shape;90;g346f7f51fef_0_13"/>
          <p:cNvPicPr preferRelativeResize="0"/>
          <p:nvPr/>
        </p:nvPicPr>
        <p:blipFill rotWithShape="1">
          <a:blip r:embed="rId3">
            <a:alphaModFix/>
          </a:blip>
          <a:srcRect b="0" l="0" r="0" t="0"/>
          <a:stretch/>
        </p:blipFill>
        <p:spPr>
          <a:xfrm>
            <a:off x="143850" y="1061726"/>
            <a:ext cx="7936627" cy="1581775"/>
          </a:xfrm>
          <a:prstGeom prst="rect">
            <a:avLst/>
          </a:prstGeom>
          <a:noFill/>
          <a:ln>
            <a:noFill/>
          </a:ln>
        </p:spPr>
      </p:pic>
      <p:pic>
        <p:nvPicPr>
          <p:cNvPr id="91" name="Google Shape;91;g346f7f51fef_0_13"/>
          <p:cNvPicPr preferRelativeResize="0"/>
          <p:nvPr/>
        </p:nvPicPr>
        <p:blipFill rotWithShape="1">
          <a:blip r:embed="rId4">
            <a:alphaModFix/>
          </a:blip>
          <a:srcRect b="0" l="0" r="0" t="0"/>
          <a:stretch/>
        </p:blipFill>
        <p:spPr>
          <a:xfrm>
            <a:off x="143850" y="2878726"/>
            <a:ext cx="8633999" cy="19130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46f7f51fef_0_20"/>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97" name="Google Shape;97;g346f7f51fef_0_20"/>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sentencias</a:t>
            </a:r>
            <a:endParaRPr/>
          </a:p>
        </p:txBody>
      </p:sp>
      <p:pic>
        <p:nvPicPr>
          <p:cNvPr id="98" name="Google Shape;98;g346f7f51fef_0_20"/>
          <p:cNvPicPr preferRelativeResize="0"/>
          <p:nvPr/>
        </p:nvPicPr>
        <p:blipFill rotWithShape="1">
          <a:blip r:embed="rId3">
            <a:alphaModFix/>
          </a:blip>
          <a:srcRect b="0" l="0" r="0" t="0"/>
          <a:stretch/>
        </p:blipFill>
        <p:spPr>
          <a:xfrm>
            <a:off x="0" y="1630650"/>
            <a:ext cx="9101227" cy="22565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46f7f51fef_0_36"/>
          <p:cNvSpPr txBox="1"/>
          <p:nvPr>
            <p:ph idx="1" type="body"/>
          </p:nvPr>
        </p:nvSpPr>
        <p:spPr>
          <a:xfrm>
            <a:off x="0" y="947975"/>
            <a:ext cx="8634000" cy="40542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Entrada: Edad = 25</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Pasos:</a:t>
            </a:r>
            <a:endParaRPr sz="5600"/>
          </a:p>
          <a:p>
            <a:pPr indent="-317500" lvl="0" marL="457200" rtl="0" algn="just">
              <a:lnSpc>
                <a:spcPct val="150000"/>
              </a:lnSpc>
              <a:spcBef>
                <a:spcPts val="0"/>
              </a:spcBef>
              <a:spcAft>
                <a:spcPts val="0"/>
              </a:spcAft>
              <a:buSzPct val="100000"/>
              <a:buAutoNum type="arabicPeriod"/>
            </a:pPr>
            <a:r>
              <a:rPr lang="es" sz="5600"/>
              <a:t>Establecer Edad = 25.</a:t>
            </a:r>
            <a:endParaRPr sz="5600"/>
          </a:p>
          <a:p>
            <a:pPr indent="-317500" lvl="0" marL="457200" rtl="0" algn="just">
              <a:lnSpc>
                <a:spcPct val="150000"/>
              </a:lnSpc>
              <a:spcBef>
                <a:spcPts val="0"/>
              </a:spcBef>
              <a:spcAft>
                <a:spcPts val="0"/>
              </a:spcAft>
              <a:buSzPct val="100000"/>
              <a:buAutoNum type="arabicPeriod"/>
            </a:pPr>
            <a:r>
              <a:rPr lang="es" sz="5600"/>
              <a:t>Ejecutar el código.</a:t>
            </a:r>
            <a:endParaRPr sz="5600"/>
          </a:p>
          <a:p>
            <a:pPr indent="-317500" lvl="0" marL="457200" rtl="0" algn="just">
              <a:lnSpc>
                <a:spcPct val="150000"/>
              </a:lnSpc>
              <a:spcBef>
                <a:spcPts val="0"/>
              </a:spcBef>
              <a:spcAft>
                <a:spcPts val="0"/>
              </a:spcAft>
              <a:buSzPct val="100000"/>
              <a:buAutoNum type="arabicPeriod"/>
            </a:pPr>
            <a:r>
              <a:rPr lang="es" sz="5600"/>
              <a:t>Verificar que Descuento se asigna a 10.</a:t>
            </a:r>
            <a:endParaRPr sz="5600"/>
          </a:p>
          <a:p>
            <a:pPr indent="-317500" lvl="0" marL="457200" rtl="0" algn="just">
              <a:lnSpc>
                <a:spcPct val="150000"/>
              </a:lnSpc>
              <a:spcBef>
                <a:spcPts val="0"/>
              </a:spcBef>
              <a:spcAft>
                <a:spcPts val="0"/>
              </a:spcAft>
              <a:buSzPct val="100000"/>
              <a:buAutoNum type="arabicPeriod"/>
            </a:pPr>
            <a:r>
              <a:rPr lang="es" sz="5600"/>
              <a:t>Verificar que el mensaje mostrado es "Descuento es: 10".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Resultado esperado:</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Descuento debería ser 10.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El mensaje mostrado debería ser "Descuento es: 10".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04" name="Google Shape;104;g346f7f51fef_0_36"/>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Caso de prueba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46f7f51fef_0_46"/>
          <p:cNvSpPr txBox="1"/>
          <p:nvPr>
            <p:ph idx="1" type="body"/>
          </p:nvPr>
        </p:nvSpPr>
        <p:spPr>
          <a:xfrm>
            <a:off x="0" y="947975"/>
            <a:ext cx="8634000" cy="40542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Entrada: Edad = 18</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Pasos:</a:t>
            </a:r>
            <a:endParaRPr sz="5600"/>
          </a:p>
          <a:p>
            <a:pPr indent="-317500" lvl="0" marL="457200" rtl="0" algn="just">
              <a:lnSpc>
                <a:spcPct val="150000"/>
              </a:lnSpc>
              <a:spcBef>
                <a:spcPts val="0"/>
              </a:spcBef>
              <a:spcAft>
                <a:spcPts val="0"/>
              </a:spcAft>
              <a:buSzPct val="100000"/>
              <a:buAutoNum type="arabicPeriod"/>
            </a:pPr>
            <a:r>
              <a:rPr lang="es" sz="5600"/>
              <a:t>Establecer Edad = 18.</a:t>
            </a:r>
            <a:endParaRPr sz="5600"/>
          </a:p>
          <a:p>
            <a:pPr indent="-317500" lvl="0" marL="457200" rtl="0" algn="just">
              <a:lnSpc>
                <a:spcPct val="150000"/>
              </a:lnSpc>
              <a:spcBef>
                <a:spcPts val="0"/>
              </a:spcBef>
              <a:spcAft>
                <a:spcPts val="0"/>
              </a:spcAft>
              <a:buSzPct val="100000"/>
              <a:buAutoNum type="arabicPeriod"/>
            </a:pPr>
            <a:r>
              <a:rPr lang="es" sz="5600"/>
              <a:t>Ejecutar el código.</a:t>
            </a:r>
            <a:endParaRPr sz="5600"/>
          </a:p>
          <a:p>
            <a:pPr indent="-317500" lvl="0" marL="457200" rtl="0" algn="just">
              <a:lnSpc>
                <a:spcPct val="150000"/>
              </a:lnSpc>
              <a:spcBef>
                <a:spcPts val="0"/>
              </a:spcBef>
              <a:spcAft>
                <a:spcPts val="0"/>
              </a:spcAft>
              <a:buSzPct val="100000"/>
              <a:buAutoNum type="arabicPeriod"/>
            </a:pPr>
            <a:r>
              <a:rPr lang="es" sz="5600"/>
              <a:t>Verificar que Descuento se asigna a 0.</a:t>
            </a:r>
            <a:endParaRPr sz="5600"/>
          </a:p>
          <a:p>
            <a:pPr indent="-317500" lvl="0" marL="457200" rtl="0" algn="just">
              <a:lnSpc>
                <a:spcPct val="150000"/>
              </a:lnSpc>
              <a:spcBef>
                <a:spcPts val="0"/>
              </a:spcBef>
              <a:spcAft>
                <a:spcPts val="0"/>
              </a:spcAft>
              <a:buSzPct val="100000"/>
              <a:buAutoNum type="arabicPeriod"/>
            </a:pPr>
            <a:r>
              <a:rPr lang="es" sz="5600"/>
              <a:t>Verificar que el mensaje mostrado es "Descuento es: 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Resultado esperado:</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Descuento debería ser 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El mensaje mostrado debería ser "Descuento es: 0".</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10" name="Google Shape;110;g346f7f51fef_0_46"/>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Caso de prueba 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46f7f51fef_0_51"/>
          <p:cNvSpPr txBox="1"/>
          <p:nvPr>
            <p:ph idx="1" type="body"/>
          </p:nvPr>
        </p:nvSpPr>
        <p:spPr>
          <a:xfrm>
            <a:off x="0" y="1426500"/>
            <a:ext cx="8634000" cy="3575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La cobertura de decisión se enfoca en probar las decisiones (condiciones) dentro del código para asegurar que se evalúen tanto a verdadero como a falso. Es decir, el tester debe garantizar que cada estructura de decisión (como un if, else, o switch) tome todas las posibles ramas de ejecución, tanto la parte verdadera como la parte falsa de la condición</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16" name="Google Shape;116;g346f7f51fef_0_5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decisión: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46f7f51fef_0_57"/>
          <p:cNvSpPr txBox="1"/>
          <p:nvPr>
            <p:ph idx="1" type="body"/>
          </p:nvPr>
        </p:nvSpPr>
        <p:spPr>
          <a:xfrm>
            <a:off x="0" y="1426500"/>
            <a:ext cx="8634000" cy="3575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22" name="Google Shape;122;g346f7f51fef_0_5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decisión:</a:t>
            </a:r>
            <a:endParaRPr/>
          </a:p>
        </p:txBody>
      </p:sp>
      <p:pic>
        <p:nvPicPr>
          <p:cNvPr id="123" name="Google Shape;123;g346f7f51fef_0_57"/>
          <p:cNvPicPr preferRelativeResize="0"/>
          <p:nvPr/>
        </p:nvPicPr>
        <p:blipFill rotWithShape="1">
          <a:blip r:embed="rId3">
            <a:alphaModFix/>
          </a:blip>
          <a:srcRect b="0" l="0" r="0" t="0"/>
          <a:stretch/>
        </p:blipFill>
        <p:spPr>
          <a:xfrm>
            <a:off x="387900" y="1426500"/>
            <a:ext cx="8368202" cy="2983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64d04520de_0_7"/>
          <p:cNvSpPr txBox="1"/>
          <p:nvPr>
            <p:ph idx="1" type="body"/>
          </p:nvPr>
        </p:nvSpPr>
        <p:spPr>
          <a:xfrm>
            <a:off x="103684" y="3299125"/>
            <a:ext cx="8025000" cy="3368100"/>
          </a:xfrm>
          <a:prstGeom prst="rect">
            <a:avLst/>
          </a:prstGeom>
          <a:noFill/>
          <a:ln>
            <a:noFill/>
          </a:ln>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s" sz="1400"/>
              <a:t>Debo probar que el if puede ser VERDADERO y también FALSO. Ej:</a:t>
            </a:r>
            <a:endParaRPr sz="1400"/>
          </a:p>
          <a:p>
            <a:pPr indent="0" lvl="0" marL="0" rtl="0" algn="just">
              <a:lnSpc>
                <a:spcPct val="150000"/>
              </a:lnSpc>
              <a:spcBef>
                <a:spcPts val="0"/>
              </a:spcBef>
              <a:spcAft>
                <a:spcPts val="0"/>
              </a:spcAft>
              <a:buNone/>
            </a:pPr>
            <a:r>
              <a:t/>
            </a:r>
            <a:endParaRPr sz="1400"/>
          </a:p>
          <a:p>
            <a:pPr indent="0" lvl="0" marL="0" rtl="0" algn="just">
              <a:lnSpc>
                <a:spcPct val="150000"/>
              </a:lnSpc>
              <a:spcBef>
                <a:spcPts val="0"/>
              </a:spcBef>
              <a:spcAft>
                <a:spcPts val="0"/>
              </a:spcAft>
              <a:buNone/>
            </a:pPr>
            <a:r>
              <a:rPr lang="es" sz="1400"/>
              <a:t>edad=20, tieneLicencia=VERDADERO → entra al SI.</a:t>
            </a:r>
            <a:endParaRPr sz="1400"/>
          </a:p>
          <a:p>
            <a:pPr indent="0" lvl="0" marL="0" rtl="0" algn="just">
              <a:lnSpc>
                <a:spcPct val="150000"/>
              </a:lnSpc>
              <a:spcBef>
                <a:spcPts val="0"/>
              </a:spcBef>
              <a:spcAft>
                <a:spcPts val="0"/>
              </a:spcAft>
              <a:buClr>
                <a:srgbClr val="000000"/>
              </a:buClr>
              <a:buSzPts val="7200"/>
              <a:buFont typeface="Arial"/>
              <a:buNone/>
            </a:pPr>
            <a:r>
              <a:rPr lang="es" sz="1400"/>
              <a:t>edad=15, tieneLicencia=FALSO → va al SINO.</a:t>
            </a:r>
            <a:endParaRPr sz="1400"/>
          </a:p>
        </p:txBody>
      </p:sp>
      <p:sp>
        <p:nvSpPr>
          <p:cNvPr id="129" name="Google Shape;129;g364d04520de_0_7"/>
          <p:cNvSpPr txBox="1"/>
          <p:nvPr>
            <p:ph type="title"/>
          </p:nvPr>
        </p:nvSpPr>
        <p:spPr>
          <a:xfrm>
            <a:off x="387900" y="6310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decisión:</a:t>
            </a:r>
            <a:endParaRPr/>
          </a:p>
        </p:txBody>
      </p:sp>
      <p:pic>
        <p:nvPicPr>
          <p:cNvPr id="130" name="Google Shape;130;g364d04520de_0_7"/>
          <p:cNvPicPr preferRelativeResize="0"/>
          <p:nvPr/>
        </p:nvPicPr>
        <p:blipFill>
          <a:blip r:embed="rId3">
            <a:alphaModFix/>
          </a:blip>
          <a:stretch>
            <a:fillRect/>
          </a:stretch>
        </p:blipFill>
        <p:spPr>
          <a:xfrm>
            <a:off x="1298888" y="749200"/>
            <a:ext cx="6546224" cy="2512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46f7f51fef_0_69"/>
          <p:cNvSpPr txBox="1"/>
          <p:nvPr>
            <p:ph idx="1" type="body"/>
          </p:nvPr>
        </p:nvSpPr>
        <p:spPr>
          <a:xfrm>
            <a:off x="0" y="1426500"/>
            <a:ext cx="8634000" cy="3575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El objetivo de la cobertura de decisión es asegurarse de que todas las ramas posibles de la decisión se evalúen.</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Por ejemplo, tengo el siguiente código: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En este caso, estamos trabajando con el operador &amp;&amp; (AND), lo que significa que ambas condiciones deben ser verdaderas para que la decisión total sea verdadera.</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36" name="Google Shape;136;g346f7f51fef_0_69"/>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condición:</a:t>
            </a:r>
            <a:endParaRPr/>
          </a:p>
        </p:txBody>
      </p:sp>
      <p:pic>
        <p:nvPicPr>
          <p:cNvPr id="137" name="Google Shape;137;g346f7f51fef_0_69"/>
          <p:cNvPicPr preferRelativeResize="0"/>
          <p:nvPr/>
        </p:nvPicPr>
        <p:blipFill rotWithShape="1">
          <a:blip r:embed="rId3">
            <a:alphaModFix/>
          </a:blip>
          <a:srcRect b="0" l="0" r="0" t="0"/>
          <a:stretch/>
        </p:blipFill>
        <p:spPr>
          <a:xfrm>
            <a:off x="0" y="2688700"/>
            <a:ext cx="20955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46f7f51fef_0_63"/>
          <p:cNvSpPr txBox="1"/>
          <p:nvPr>
            <p:ph idx="1" type="body"/>
          </p:nvPr>
        </p:nvSpPr>
        <p:spPr>
          <a:xfrm>
            <a:off x="0" y="1426500"/>
            <a:ext cx="8634000" cy="3575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Por lo tanto, lo que se quiere probar es que:</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La primera condición (X &gt; 0) se evalúa tanto a verdadera como a falsa.</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La segunda condición (Y &lt; 15) se evalúa tanto a verdadera como a falsa</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43" name="Google Shape;143;g346f7f51fef_0_6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condición: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46f7f51fef_0_75"/>
          <p:cNvSpPr txBox="1"/>
          <p:nvPr>
            <p:ph idx="1" type="body"/>
          </p:nvPr>
        </p:nvSpPr>
        <p:spPr>
          <a:xfrm>
            <a:off x="0" y="1047350"/>
            <a:ext cx="8634000" cy="3575700"/>
          </a:xfrm>
          <a:prstGeom prst="rect">
            <a:avLst/>
          </a:prstGeom>
          <a:noFill/>
          <a:ln>
            <a:noFill/>
          </a:ln>
        </p:spPr>
        <p:txBody>
          <a:bodyPr anchorCtr="0" anchor="t" bIns="91425" lIns="91425" spcFirstLastPara="1" rIns="91425" wrap="square" tIns="91425">
            <a:noAutofit/>
          </a:bodyPr>
          <a:lstStyle/>
          <a:p>
            <a:pPr indent="0" lvl="0" marL="0" rtl="0" algn="just">
              <a:lnSpc>
                <a:spcPct val="130000"/>
              </a:lnSpc>
              <a:spcBef>
                <a:spcPts val="0"/>
              </a:spcBef>
              <a:spcAft>
                <a:spcPts val="0"/>
              </a:spcAft>
              <a:buSzPts val="1800"/>
              <a:buNone/>
            </a:pPr>
            <a:r>
              <a:rPr b="1" lang="es" sz="1200" u="sng"/>
              <a:t>Caso de prueba 1</a:t>
            </a:r>
            <a:r>
              <a:rPr lang="es" sz="1200"/>
              <a:t>: X &gt; 0 es verdadera y Y &lt; 15 es verdadera</a:t>
            </a:r>
            <a:endParaRPr sz="1200"/>
          </a:p>
          <a:p>
            <a:pPr indent="0" lvl="0" marL="0" rtl="0" algn="just">
              <a:lnSpc>
                <a:spcPct val="130000"/>
              </a:lnSpc>
              <a:spcBef>
                <a:spcPts val="0"/>
              </a:spcBef>
              <a:spcAft>
                <a:spcPts val="0"/>
              </a:spcAft>
              <a:buSzPts val="1800"/>
              <a:buNone/>
            </a:pPr>
            <a:r>
              <a:rPr lang="es" sz="1200"/>
              <a:t>Entrada: X = 5 y Y = 10</a:t>
            </a:r>
            <a:endParaRPr sz="1200"/>
          </a:p>
          <a:p>
            <a:pPr indent="0" lvl="0" marL="0" rtl="0" algn="just">
              <a:lnSpc>
                <a:spcPct val="130000"/>
              </a:lnSpc>
              <a:spcBef>
                <a:spcPts val="0"/>
              </a:spcBef>
              <a:spcAft>
                <a:spcPts val="0"/>
              </a:spcAft>
              <a:buSzPts val="1800"/>
              <a:buNone/>
            </a:pPr>
            <a:r>
              <a:t/>
            </a:r>
            <a:endParaRPr sz="800"/>
          </a:p>
          <a:p>
            <a:pPr indent="0" lvl="0" marL="0" rtl="0" algn="just">
              <a:lnSpc>
                <a:spcPct val="130000"/>
              </a:lnSpc>
              <a:spcBef>
                <a:spcPts val="0"/>
              </a:spcBef>
              <a:spcAft>
                <a:spcPts val="0"/>
              </a:spcAft>
              <a:buSzPts val="1800"/>
              <a:buNone/>
            </a:pPr>
            <a:r>
              <a:rPr lang="es" sz="1200"/>
              <a:t>Esperado: Ambas condiciones se cumplen (ambas son verdaderas), por lo que la decisión completa se evalúa como verdadera.</a:t>
            </a:r>
            <a:endParaRPr sz="1200"/>
          </a:p>
          <a:p>
            <a:pPr indent="0" lvl="0" marL="0" rtl="0" algn="just">
              <a:lnSpc>
                <a:spcPct val="130000"/>
              </a:lnSpc>
              <a:spcBef>
                <a:spcPts val="0"/>
              </a:spcBef>
              <a:spcAft>
                <a:spcPts val="0"/>
              </a:spcAft>
              <a:buSzPts val="1800"/>
              <a:buNone/>
            </a:pPr>
            <a:r>
              <a:t/>
            </a:r>
            <a:endParaRPr sz="1200"/>
          </a:p>
          <a:p>
            <a:pPr indent="0" lvl="0" marL="0" rtl="0" algn="just">
              <a:lnSpc>
                <a:spcPct val="130000"/>
              </a:lnSpc>
              <a:spcBef>
                <a:spcPts val="0"/>
              </a:spcBef>
              <a:spcAft>
                <a:spcPts val="0"/>
              </a:spcAft>
              <a:buSzPts val="1800"/>
              <a:buNone/>
            </a:pPr>
            <a:r>
              <a:rPr b="1" lang="es" sz="1200" u="sng"/>
              <a:t>Caso de prueba 2</a:t>
            </a:r>
            <a:r>
              <a:rPr lang="es" sz="1200"/>
              <a:t>: X &gt; 0 es falsa y Y &lt; 15 es verdadera</a:t>
            </a:r>
            <a:endParaRPr sz="1200"/>
          </a:p>
          <a:p>
            <a:pPr indent="0" lvl="0" marL="0" rtl="0" algn="just">
              <a:lnSpc>
                <a:spcPct val="130000"/>
              </a:lnSpc>
              <a:spcBef>
                <a:spcPts val="0"/>
              </a:spcBef>
              <a:spcAft>
                <a:spcPts val="0"/>
              </a:spcAft>
              <a:buSzPts val="1800"/>
              <a:buNone/>
            </a:pPr>
            <a:r>
              <a:rPr lang="es" sz="1200"/>
              <a:t>Entrada: X = -5 y Y = 10</a:t>
            </a:r>
            <a:endParaRPr sz="1200"/>
          </a:p>
          <a:p>
            <a:pPr indent="0" lvl="0" marL="0" rtl="0" algn="just">
              <a:lnSpc>
                <a:spcPct val="130000"/>
              </a:lnSpc>
              <a:spcBef>
                <a:spcPts val="0"/>
              </a:spcBef>
              <a:spcAft>
                <a:spcPts val="0"/>
              </a:spcAft>
              <a:buSzPts val="1800"/>
              <a:buNone/>
            </a:pPr>
            <a:r>
              <a:t/>
            </a:r>
            <a:endParaRPr sz="1200"/>
          </a:p>
          <a:p>
            <a:pPr indent="0" lvl="0" marL="0" rtl="0" algn="just">
              <a:lnSpc>
                <a:spcPct val="130000"/>
              </a:lnSpc>
              <a:spcBef>
                <a:spcPts val="0"/>
              </a:spcBef>
              <a:spcAft>
                <a:spcPts val="0"/>
              </a:spcAft>
              <a:buSzPts val="1800"/>
              <a:buNone/>
            </a:pPr>
            <a:r>
              <a:rPr lang="es" sz="1200"/>
              <a:t>Esperado: La primera condición (X &gt; 0) es falsa, así que no importa el valor de la segunda condición. La decisión completa se evalúa como falsa.</a:t>
            </a:r>
            <a:endParaRPr sz="1200"/>
          </a:p>
          <a:p>
            <a:pPr indent="0" lvl="0" marL="0" rtl="0" algn="just">
              <a:lnSpc>
                <a:spcPct val="130000"/>
              </a:lnSpc>
              <a:spcBef>
                <a:spcPts val="0"/>
              </a:spcBef>
              <a:spcAft>
                <a:spcPts val="0"/>
              </a:spcAft>
              <a:buSzPts val="1800"/>
              <a:buNone/>
            </a:pPr>
            <a:r>
              <a:t/>
            </a:r>
            <a:endParaRPr sz="1200"/>
          </a:p>
          <a:p>
            <a:pPr indent="0" lvl="0" marL="0" rtl="0" algn="just">
              <a:lnSpc>
                <a:spcPct val="130000"/>
              </a:lnSpc>
              <a:spcBef>
                <a:spcPts val="0"/>
              </a:spcBef>
              <a:spcAft>
                <a:spcPts val="0"/>
              </a:spcAft>
              <a:buSzPts val="1800"/>
              <a:buNone/>
            </a:pPr>
            <a:r>
              <a:rPr lang="es" sz="1200"/>
              <a:t>Caso de prueba 3: X &gt; 0 es verdadera y Y &lt; 15 es falsa</a:t>
            </a:r>
            <a:endParaRPr sz="1200"/>
          </a:p>
          <a:p>
            <a:pPr indent="0" lvl="0" marL="0" rtl="0" algn="just">
              <a:lnSpc>
                <a:spcPct val="130000"/>
              </a:lnSpc>
              <a:spcBef>
                <a:spcPts val="0"/>
              </a:spcBef>
              <a:spcAft>
                <a:spcPts val="0"/>
              </a:spcAft>
              <a:buSzPts val="1800"/>
              <a:buNone/>
            </a:pPr>
            <a:r>
              <a:rPr lang="es" sz="1200"/>
              <a:t>Entrada: X = 5 y Y = 20</a:t>
            </a:r>
            <a:endParaRPr sz="1200"/>
          </a:p>
          <a:p>
            <a:pPr indent="0" lvl="0" marL="0" rtl="0" algn="just">
              <a:lnSpc>
                <a:spcPct val="130000"/>
              </a:lnSpc>
              <a:spcBef>
                <a:spcPts val="0"/>
              </a:spcBef>
              <a:spcAft>
                <a:spcPts val="0"/>
              </a:spcAft>
              <a:buSzPts val="1800"/>
              <a:buNone/>
            </a:pPr>
            <a:r>
              <a:t/>
            </a:r>
            <a:endParaRPr sz="1200"/>
          </a:p>
          <a:p>
            <a:pPr indent="0" lvl="0" marL="0" rtl="0" algn="just">
              <a:lnSpc>
                <a:spcPct val="130000"/>
              </a:lnSpc>
              <a:spcBef>
                <a:spcPts val="0"/>
              </a:spcBef>
              <a:spcAft>
                <a:spcPts val="0"/>
              </a:spcAft>
              <a:buSzPts val="1800"/>
              <a:buNone/>
            </a:pPr>
            <a:r>
              <a:rPr lang="es" sz="1200"/>
              <a:t>Esperado: La primera condición (X &gt; 0) es verdadera, pero la segunda condición (Y &lt; 15) es falsa, por lo que la decisión completa se evalúa como falsa.</a:t>
            </a:r>
            <a:endParaRPr sz="1200"/>
          </a:p>
          <a:p>
            <a:pPr indent="0" lvl="0" marL="0" rtl="0" algn="just">
              <a:lnSpc>
                <a:spcPct val="130000"/>
              </a:lnSpc>
              <a:spcBef>
                <a:spcPts val="0"/>
              </a:spcBef>
              <a:spcAft>
                <a:spcPts val="0"/>
              </a:spcAft>
              <a:buClr>
                <a:srgbClr val="000000"/>
              </a:buClr>
              <a:buSzPts val="1800"/>
              <a:buFont typeface="Arial"/>
              <a:buNone/>
            </a:pPr>
            <a:r>
              <a:t/>
            </a:r>
            <a:endParaRPr sz="1200"/>
          </a:p>
          <a:p>
            <a:pPr indent="0" lvl="0" marL="0" rtl="0" algn="just">
              <a:lnSpc>
                <a:spcPct val="130000"/>
              </a:lnSpc>
              <a:spcBef>
                <a:spcPts val="0"/>
              </a:spcBef>
              <a:spcAft>
                <a:spcPts val="0"/>
              </a:spcAft>
              <a:buSzPts val="1800"/>
              <a:buNone/>
            </a:pPr>
            <a:r>
              <a:t/>
            </a:r>
            <a:endParaRPr sz="1000"/>
          </a:p>
          <a:p>
            <a:pPr indent="0" lvl="0" marL="0" rtl="0" algn="just">
              <a:lnSpc>
                <a:spcPct val="130000"/>
              </a:lnSpc>
              <a:spcBef>
                <a:spcPts val="0"/>
              </a:spcBef>
              <a:spcAft>
                <a:spcPts val="0"/>
              </a:spcAft>
              <a:buSzPts val="1800"/>
              <a:buNone/>
            </a:pPr>
            <a:r>
              <a:t/>
            </a:r>
            <a:endParaRPr sz="10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1200"/>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275"/>
          </a:p>
          <a:p>
            <a:pPr indent="0" lvl="0" marL="0" rtl="0" algn="just">
              <a:lnSpc>
                <a:spcPct val="130000"/>
              </a:lnSpc>
              <a:spcBef>
                <a:spcPts val="1200"/>
              </a:spcBef>
              <a:spcAft>
                <a:spcPts val="0"/>
              </a:spcAft>
              <a:buSzPts val="1800"/>
              <a:buNone/>
            </a:pPr>
            <a:r>
              <a:t/>
            </a:r>
            <a:endParaRPr sz="1600"/>
          </a:p>
          <a:p>
            <a:pPr indent="0" lvl="0" marL="0" rtl="0" algn="just">
              <a:lnSpc>
                <a:spcPct val="130000"/>
              </a:lnSpc>
              <a:spcBef>
                <a:spcPts val="1200"/>
              </a:spcBef>
              <a:spcAft>
                <a:spcPts val="0"/>
              </a:spcAft>
              <a:buSzPts val="1800"/>
              <a:buNone/>
            </a:pPr>
            <a:r>
              <a:t/>
            </a:r>
            <a:endParaRPr sz="1600"/>
          </a:p>
          <a:p>
            <a:pPr indent="360000" lvl="0" marL="0" rtl="0" algn="just">
              <a:lnSpc>
                <a:spcPct val="130000"/>
              </a:lnSpc>
              <a:spcBef>
                <a:spcPts val="1200"/>
              </a:spcBef>
              <a:spcAft>
                <a:spcPts val="0"/>
              </a:spcAft>
              <a:buSzPts val="1800"/>
              <a:buNone/>
            </a:pPr>
            <a:r>
              <a:t/>
            </a:r>
            <a:endParaRPr sz="250"/>
          </a:p>
          <a:p>
            <a:pPr indent="360000" lvl="0" marL="0" rtl="0" algn="just">
              <a:lnSpc>
                <a:spcPct val="130000"/>
              </a:lnSpc>
              <a:spcBef>
                <a:spcPts val="1200"/>
              </a:spcBef>
              <a:spcAft>
                <a:spcPts val="0"/>
              </a:spcAft>
              <a:buSzPts val="1800"/>
              <a:buNone/>
            </a:pPr>
            <a:r>
              <a:t/>
            </a:r>
            <a:endParaRPr sz="250"/>
          </a:p>
          <a:p>
            <a:pPr indent="360000" lvl="0" marL="0" rtl="0" algn="just">
              <a:lnSpc>
                <a:spcPct val="130000"/>
              </a:lnSpc>
              <a:spcBef>
                <a:spcPts val="1200"/>
              </a:spcBef>
              <a:spcAft>
                <a:spcPts val="0"/>
              </a:spcAft>
              <a:buSzPts val="1800"/>
              <a:buNone/>
            </a:pPr>
            <a:r>
              <a:t/>
            </a:r>
            <a:endParaRPr sz="250"/>
          </a:p>
          <a:p>
            <a:pPr indent="360000" lvl="0" marL="0" rtl="0" algn="just">
              <a:lnSpc>
                <a:spcPct val="130000"/>
              </a:lnSpc>
              <a:spcBef>
                <a:spcPts val="1200"/>
              </a:spcBef>
              <a:spcAft>
                <a:spcPts val="0"/>
              </a:spcAft>
              <a:buSzPts val="1800"/>
              <a:buNone/>
            </a:pPr>
            <a:r>
              <a:t/>
            </a:r>
            <a:endParaRPr sz="250"/>
          </a:p>
          <a:p>
            <a:pPr indent="360000" lvl="0" marL="0" rtl="0" algn="just">
              <a:lnSpc>
                <a:spcPct val="130000"/>
              </a:lnSpc>
              <a:spcBef>
                <a:spcPts val="1200"/>
              </a:spcBef>
              <a:spcAft>
                <a:spcPts val="1200"/>
              </a:spcAft>
              <a:buSzPts val="1800"/>
              <a:buNone/>
            </a:pPr>
            <a:r>
              <a:t/>
            </a:r>
            <a:endParaRPr sz="250"/>
          </a:p>
        </p:txBody>
      </p:sp>
      <p:sp>
        <p:nvSpPr>
          <p:cNvPr id="149" name="Google Shape;149;g346f7f51fef_0_75"/>
          <p:cNvSpPr txBox="1"/>
          <p:nvPr>
            <p:ph type="title"/>
          </p:nvPr>
        </p:nvSpPr>
        <p:spPr>
          <a:xfrm>
            <a:off x="387900" y="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condición: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46f7f51fef_0_81"/>
          <p:cNvSpPr txBox="1"/>
          <p:nvPr>
            <p:ph idx="1" type="body"/>
          </p:nvPr>
        </p:nvSpPr>
        <p:spPr>
          <a:xfrm>
            <a:off x="0" y="1426500"/>
            <a:ext cx="8634000" cy="35757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0"/>
              </a:spcBef>
              <a:spcAft>
                <a:spcPts val="0"/>
              </a:spcAft>
              <a:buSzPct val="128571"/>
              <a:buNone/>
            </a:pPr>
            <a:r>
              <a:rPr lang="es" sz="5600"/>
              <a:t>Requiere probar todas las combinaciones posibles de las condiciones dentro de la decisión.</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En el ejemplo anterior, debemos agregar un Caso de prueba 4, en el cual se evalúen falsas las dos.</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X &gt; 0  puede ser V/F</a:t>
            </a:r>
            <a:endParaRPr sz="5600"/>
          </a:p>
          <a:p>
            <a:pPr indent="0" lvl="0" marL="0" rtl="0" algn="just">
              <a:lnSpc>
                <a:spcPct val="150000"/>
              </a:lnSpc>
              <a:spcBef>
                <a:spcPts val="0"/>
              </a:spcBef>
              <a:spcAft>
                <a:spcPts val="0"/>
              </a:spcAft>
              <a:buSzPct val="128571"/>
              <a:buNone/>
            </a:pPr>
            <a:r>
              <a:rPr lang="es" sz="5600"/>
              <a:t>Y &lt; 15 puede ser V/F</a:t>
            </a:r>
            <a:endParaRPr sz="5600"/>
          </a:p>
          <a:p>
            <a:pPr indent="0" lvl="0" marL="0" rtl="0" algn="just">
              <a:lnSpc>
                <a:spcPct val="150000"/>
              </a:lnSpc>
              <a:spcBef>
                <a:spcPts val="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Total de combinaciones: 4</a:t>
            </a:r>
            <a:endParaRPr sz="5600"/>
          </a:p>
          <a:p>
            <a:pPr indent="0" lvl="0" marL="0" rtl="0" algn="just">
              <a:lnSpc>
                <a:spcPct val="150000"/>
              </a:lnSpc>
              <a:spcBef>
                <a:spcPts val="0"/>
              </a:spcBef>
              <a:spcAft>
                <a:spcPts val="0"/>
              </a:spcAft>
              <a:buSzPct val="128571"/>
              <a:buNone/>
            </a:pPr>
            <a:r>
              <a:t/>
            </a:r>
            <a:endParaRPr sz="5600"/>
          </a:p>
          <a:p>
            <a:pPr indent="-317500" lvl="0" marL="457200" rtl="0" algn="just">
              <a:lnSpc>
                <a:spcPct val="150000"/>
              </a:lnSpc>
              <a:spcBef>
                <a:spcPts val="0"/>
              </a:spcBef>
              <a:spcAft>
                <a:spcPts val="0"/>
              </a:spcAft>
              <a:buSzPct val="100000"/>
              <a:buChar char="●"/>
            </a:pPr>
            <a:r>
              <a:rPr lang="es" sz="5600"/>
              <a:t>V y V</a:t>
            </a:r>
            <a:endParaRPr sz="5600"/>
          </a:p>
          <a:p>
            <a:pPr indent="-317500" lvl="0" marL="457200" rtl="0" algn="just">
              <a:lnSpc>
                <a:spcPct val="150000"/>
              </a:lnSpc>
              <a:spcBef>
                <a:spcPts val="0"/>
              </a:spcBef>
              <a:spcAft>
                <a:spcPts val="0"/>
              </a:spcAft>
              <a:buSzPct val="100000"/>
              <a:buChar char="●"/>
            </a:pPr>
            <a:r>
              <a:rPr lang="es" sz="5600"/>
              <a:t>V y F</a:t>
            </a:r>
            <a:endParaRPr sz="5600"/>
          </a:p>
          <a:p>
            <a:pPr indent="-317500" lvl="0" marL="457200" rtl="0" algn="just">
              <a:lnSpc>
                <a:spcPct val="150000"/>
              </a:lnSpc>
              <a:spcBef>
                <a:spcPts val="0"/>
              </a:spcBef>
              <a:spcAft>
                <a:spcPts val="0"/>
              </a:spcAft>
              <a:buSzPct val="100000"/>
              <a:buChar char="●"/>
            </a:pPr>
            <a:r>
              <a:rPr lang="es" sz="5600"/>
              <a:t>F y V</a:t>
            </a:r>
            <a:endParaRPr sz="5600"/>
          </a:p>
          <a:p>
            <a:pPr indent="-317500" lvl="0" marL="457200" rtl="0" algn="just">
              <a:lnSpc>
                <a:spcPct val="150000"/>
              </a:lnSpc>
              <a:spcBef>
                <a:spcPts val="0"/>
              </a:spcBef>
              <a:spcAft>
                <a:spcPts val="0"/>
              </a:spcAft>
              <a:buSzPct val="100000"/>
              <a:buChar char="●"/>
            </a:pPr>
            <a:r>
              <a:rPr lang="es" sz="5600"/>
              <a:t>F y F</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55" name="Google Shape;155;g346f7f51fef_0_8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condición múltiple: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46a004132a_0_1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Con este método se escriben casos de prueba suficientes para ejecutar todos los caminos de un programa. Entendemos que un camino es una secuencia de sentencias encadenadas desde la entrada de datos hasta la salida del software. Este criterio de cobertura asegura que los casos de prueba diseñados permiten que todas las sentencias del programa sean ejecutadas al menos una vez y que las condiciones sean probadas tanto para su valor verdadero como falso.</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61" name="Google Shape;161;g346a004132a_0_1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caminos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64d04520de_0_13"/>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67" name="Google Shape;167;g364d04520de_0_13"/>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caminos</a:t>
            </a:r>
            <a:endParaRPr/>
          </a:p>
        </p:txBody>
      </p:sp>
      <p:pic>
        <p:nvPicPr>
          <p:cNvPr id="168" name="Google Shape;168;g364d04520de_0_13"/>
          <p:cNvPicPr preferRelativeResize="0"/>
          <p:nvPr/>
        </p:nvPicPr>
        <p:blipFill>
          <a:blip r:embed="rId3">
            <a:alphaModFix/>
          </a:blip>
          <a:stretch>
            <a:fillRect/>
          </a:stretch>
        </p:blipFill>
        <p:spPr>
          <a:xfrm>
            <a:off x="2269178" y="1047375"/>
            <a:ext cx="3759776" cy="3808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64d04520de_0_19"/>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SzPct val="128571"/>
              <a:buNone/>
            </a:pPr>
            <a:r>
              <a:rPr lang="es" sz="5600"/>
              <a:t>Rutas posibles:</a:t>
            </a:r>
            <a:endParaRPr sz="5600"/>
          </a:p>
          <a:p>
            <a:pPr indent="0" lvl="0" marL="0" rtl="0" algn="just">
              <a:lnSpc>
                <a:spcPct val="150000"/>
              </a:lnSpc>
              <a:spcBef>
                <a:spcPts val="0"/>
              </a:spcBef>
              <a:spcAft>
                <a:spcPts val="0"/>
              </a:spcAft>
              <a:buSzPct val="128571"/>
              <a:buNone/>
            </a:pPr>
            <a:r>
              <a:t/>
            </a:r>
            <a:endParaRPr sz="5600"/>
          </a:p>
          <a:p>
            <a:pPr indent="-317500" lvl="0" marL="457200" rtl="0" algn="just">
              <a:lnSpc>
                <a:spcPct val="150000"/>
              </a:lnSpc>
              <a:spcBef>
                <a:spcPts val="0"/>
              </a:spcBef>
              <a:spcAft>
                <a:spcPts val="0"/>
              </a:spcAft>
              <a:buSzPct val="100000"/>
              <a:buChar char="●"/>
            </a:pPr>
            <a:r>
              <a:rPr lang="es" sz="5600"/>
              <a:t>X&gt;0 y Y&lt;10 → salida=A</a:t>
            </a:r>
            <a:endParaRPr sz="5600"/>
          </a:p>
          <a:p>
            <a:pPr indent="-317500" lvl="0" marL="457200" rtl="0" algn="just">
              <a:lnSpc>
                <a:spcPct val="150000"/>
              </a:lnSpc>
              <a:spcBef>
                <a:spcPts val="0"/>
              </a:spcBef>
              <a:spcAft>
                <a:spcPts val="0"/>
              </a:spcAft>
              <a:buSzPct val="100000"/>
              <a:buChar char="●"/>
            </a:pPr>
            <a:r>
              <a:rPr lang="es" sz="5600"/>
              <a:t>X&gt;0 y Y≥10 → salida=B</a:t>
            </a:r>
            <a:endParaRPr sz="5600"/>
          </a:p>
          <a:p>
            <a:pPr indent="-317500" lvl="0" marL="457200" rtl="0" algn="just">
              <a:lnSpc>
                <a:spcPct val="150000"/>
              </a:lnSpc>
              <a:spcBef>
                <a:spcPts val="0"/>
              </a:spcBef>
              <a:spcAft>
                <a:spcPts val="0"/>
              </a:spcAft>
              <a:buSzPct val="100000"/>
              <a:buChar char="●"/>
            </a:pPr>
            <a:r>
              <a:rPr lang="es" sz="5600"/>
              <a:t>X≤0 → salida=C</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74" name="Google Shape;174;g364d04520de_0_19"/>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caminos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64d04520de_0_2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0"/>
              </a:spcBef>
              <a:spcAft>
                <a:spcPts val="0"/>
              </a:spcAft>
              <a:buNone/>
            </a:pPr>
            <a:r>
              <a:rPr lang="es" sz="5600"/>
              <a:t>C</a:t>
            </a:r>
            <a:r>
              <a:rPr lang="es" sz="5600"/>
              <a:t>ombinación de decisión y condición: cada decisión true/false y cada condición simple true/false al menos una vez.</a:t>
            </a:r>
            <a:endParaRPr sz="5600"/>
          </a:p>
          <a:p>
            <a:pPr indent="0" lvl="0" marL="0" rtl="0" algn="just">
              <a:lnSpc>
                <a:spcPct val="150000"/>
              </a:lnSpc>
              <a:spcBef>
                <a:spcPts val="1200"/>
              </a:spcBef>
              <a:spcAft>
                <a:spcPts val="0"/>
              </a:spcAft>
              <a:buSzPct val="128571"/>
              <a:buNone/>
            </a:pPr>
            <a:r>
              <a:rPr lang="es" sz="5600"/>
              <a:t>Cada decisión: X&gt;0, Y&lt;10 → debe ser true y false</a:t>
            </a:r>
            <a:endParaRPr sz="5600"/>
          </a:p>
          <a:p>
            <a:pPr indent="0" lvl="0" marL="0" rtl="0" algn="just">
              <a:lnSpc>
                <a:spcPct val="150000"/>
              </a:lnSpc>
              <a:spcBef>
                <a:spcPts val="1200"/>
              </a:spcBef>
              <a:spcAft>
                <a:spcPts val="0"/>
              </a:spcAft>
              <a:buSzPct val="128571"/>
              <a:buNone/>
            </a:pPr>
            <a:r>
              <a:rPr lang="es" sz="5600"/>
              <a:t>Cada condición individual: X&gt;0 y Y&lt;10 → al menos una vez true y false</a:t>
            </a:r>
            <a:endParaRPr sz="5600"/>
          </a:p>
          <a:p>
            <a:pPr indent="0" lvl="0" marL="0" rtl="0" algn="just">
              <a:lnSpc>
                <a:spcPct val="150000"/>
              </a:lnSpc>
              <a:spcBef>
                <a:spcPts val="1200"/>
              </a:spcBef>
              <a:spcAft>
                <a:spcPts val="0"/>
              </a:spcAft>
              <a:buSzPct val="128571"/>
              <a:buNone/>
            </a:pPr>
            <a:r>
              <a:rPr lang="es" sz="5600"/>
              <a:t>Casos de prueba podrían ser los mismos 3, ya que cubren true/false de cada decisión y condición.</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128571"/>
              <a:buNone/>
            </a:pPr>
            <a:r>
              <a:t/>
            </a:r>
            <a:endParaRPr sz="56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
        <p:nvSpPr>
          <p:cNvPr id="180" name="Google Shape;180;g364d04520de_0_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Cobertura de decisión/condición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
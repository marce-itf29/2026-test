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Slab"/>
      <p:regular r:id="rId15"/>
      <p:bold r:id="rId16"/>
    </p:embeddedFon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 roundtripDataSignature="AMtx7mjYBFjXxNO80txL9KRoo7mB+4m6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Slab-regular.fntdata"/><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font" Target="fonts/RobotoSlab-bold.fntdata"/><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c48997997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c48997997b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ff2dd2e30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1ff2dd2e300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ff2dd2e30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ff2dd2e300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ff2dd2e30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1ff2dd2e300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ff2dd2e30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1ff2dd2e300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ff2dd2e30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1ff2dd2e300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ff2dd2e30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1ff2dd2e300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ff2dd2e30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1ff2dd2e300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14"/>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14"/>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16"/>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7"/>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19"/>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9"/>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21"/>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3"/>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23"/>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9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code.visualstudio.com/download"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tnet.microsoft.com/es-es/download"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768425" y="1188925"/>
            <a:ext cx="76098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s"/>
              <a:t>Semana 6 - Pruebas Unitarias</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a:t>Prof. Kevin Del Bello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2c48997997b_0_1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Pruebas unitarias. Definición</a:t>
            </a:r>
            <a:endParaRPr/>
          </a:p>
        </p:txBody>
      </p:sp>
      <p:sp>
        <p:nvSpPr>
          <p:cNvPr id="70" name="Google Shape;70;g2c48997997b_0_124"/>
          <p:cNvSpPr txBox="1"/>
          <p:nvPr>
            <p:ph idx="1" type="body"/>
          </p:nvPr>
        </p:nvSpPr>
        <p:spPr>
          <a:xfrm>
            <a:off x="-54375" y="189530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El concepto de pruebas unitarias en el software no es nuevo. Ha estado dando vueltas por la comunidad desde los primeros días de Smalltalk en los 70s. Este método es una de las mejores formas en las que un/a desarrollador/a puede mejorar la calidad del código mientras se gana un entendimiento aún más profundo de los requerimientos funcionales de una clase o método.</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Una prueba unitaria es una pieza de código que invoca a una unidad de trabajo y controla un resultado final específico de una unidad de trabajo. Si las asunciones del resultado final resultan estar mal, entonces la prueba falla. El alcance de una prueba unitaria puede ser tan pequeña como un método o tan grande como múltiples clases.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378946"/>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71" name="Google Shape;71;g2c48997997b_0_124"/>
          <p:cNvPicPr preferRelativeResize="0"/>
          <p:nvPr/>
        </p:nvPicPr>
        <p:blipFill rotWithShape="1">
          <a:blip r:embed="rId3">
            <a:alphaModFix/>
          </a:blip>
          <a:srcRect b="0" l="0" r="0" t="0"/>
          <a:stretch/>
        </p:blipFill>
        <p:spPr>
          <a:xfrm>
            <a:off x="7090075" y="-2"/>
            <a:ext cx="2053925" cy="171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1ff2dd2e300_0_9"/>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Pruebas unitarias</a:t>
            </a:r>
            <a:endParaRPr/>
          </a:p>
        </p:txBody>
      </p:sp>
      <p:sp>
        <p:nvSpPr>
          <p:cNvPr id="77" name="Google Shape;77;g1ff2dd2e300_0_9"/>
          <p:cNvSpPr txBox="1"/>
          <p:nvPr>
            <p:ph idx="1" type="body"/>
          </p:nvPr>
        </p:nvSpPr>
        <p:spPr>
          <a:xfrm>
            <a:off x="0" y="142770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Es importante destacar que no hay que confundir el acto de probar software con el concepto de prueba unitaria. </a:t>
            </a:r>
            <a:endParaRPr sz="5600"/>
          </a:p>
          <a:p>
            <a:pPr indent="0" lvl="0" marL="0" rtl="0" algn="just">
              <a:lnSpc>
                <a:spcPct val="150000"/>
              </a:lnSpc>
              <a:spcBef>
                <a:spcPts val="1200"/>
              </a:spcBef>
              <a:spcAft>
                <a:spcPts val="0"/>
              </a:spcAft>
              <a:buSzPct val="128571"/>
              <a:buNone/>
            </a:pPr>
            <a:r>
              <a:rPr lang="es" sz="5600"/>
              <a:t>Desde la semana 2 hasta la semana 5, las técnicas y métodos que hemos visto hasta el momento no son pruebas unitarias ya que no son pruebas automáticas y no son pruebas a una pequeña parte del software, sino a funcionalidades completas. </a:t>
            </a:r>
            <a:endParaRPr sz="5600"/>
          </a:p>
          <a:p>
            <a:pPr indent="0" lvl="0" marL="0" rtl="0" algn="just">
              <a:lnSpc>
                <a:spcPct val="150000"/>
              </a:lnSpc>
              <a:spcBef>
                <a:spcPts val="1200"/>
              </a:spcBef>
              <a:spcAft>
                <a:spcPts val="0"/>
              </a:spcAft>
              <a:buSzPct val="128571"/>
              <a:buNone/>
            </a:pPr>
            <a:r>
              <a:rPr lang="es" sz="5600"/>
              <a:t>Esas pruebas son parte de lo que conocemos como pruebas de integración. Hablaremos sobre pruebas de integración más adelante en la materia, no esta semana. Lo importante es que a mayor diferencia es que las pruebas de integración funcionan sin tener control completo de la unidad de trabajo a probar (ya deja de ser una unidad) y entran en juego dependencias que no dependen al 100% de la prueba (como el tiempo, la red, base de datos, hilos de procesamiento, generadores de números automáticos, llamadas a APIs externas, uso de librerías externas, etc.)</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ff2dd2e300_0_1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VSCODE - NUnit</a:t>
            </a:r>
            <a:endParaRPr/>
          </a:p>
        </p:txBody>
      </p:sp>
      <p:sp>
        <p:nvSpPr>
          <p:cNvPr id="83" name="Google Shape;83;g1ff2dd2e300_0_14"/>
          <p:cNvSpPr txBox="1"/>
          <p:nvPr>
            <p:ph idx="1" type="body"/>
          </p:nvPr>
        </p:nvSpPr>
        <p:spPr>
          <a:xfrm>
            <a:off x="0" y="142770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Para trabajar con Pruebas Unitarias, veremos la herramienta VS CODE. Link de descarga: </a:t>
            </a:r>
            <a:r>
              <a:rPr lang="es" sz="5600" u="sng">
                <a:solidFill>
                  <a:schemeClr val="hlink"/>
                </a:solidFill>
                <a:hlinkClick r:id="rId3"/>
              </a:rPr>
              <a:t>https://code.visualstudio.com/download</a:t>
            </a:r>
            <a:r>
              <a:rPr lang="es" sz="5600"/>
              <a:t> </a:t>
            </a:r>
            <a:endParaRPr sz="5600"/>
          </a:p>
          <a:p>
            <a:pPr indent="0" lvl="0" marL="0" rtl="0" algn="just">
              <a:lnSpc>
                <a:spcPct val="150000"/>
              </a:lnSpc>
              <a:spcBef>
                <a:spcPts val="1200"/>
              </a:spcBef>
              <a:spcAft>
                <a:spcPts val="0"/>
              </a:spcAft>
              <a:buSzPct val="128571"/>
              <a:buNone/>
            </a:pPr>
            <a:r>
              <a:rPr lang="es" sz="5600"/>
              <a:t>Una vez descargado, vamos a las extensiones, y nos instalamos la de .NET Core Test Explorer, que trabaja con NUnit:</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84" name="Google Shape;84;g1ff2dd2e300_0_14"/>
          <p:cNvPicPr preferRelativeResize="0"/>
          <p:nvPr/>
        </p:nvPicPr>
        <p:blipFill rotWithShape="1">
          <a:blip r:embed="rId4">
            <a:alphaModFix/>
          </a:blip>
          <a:srcRect b="0" l="0" r="0" t="0"/>
          <a:stretch/>
        </p:blipFill>
        <p:spPr>
          <a:xfrm>
            <a:off x="772075" y="2941573"/>
            <a:ext cx="6939926" cy="1776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1ff2dd2e300_0_2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a:t>
            </a:r>
            <a:endParaRPr/>
          </a:p>
        </p:txBody>
      </p:sp>
      <p:sp>
        <p:nvSpPr>
          <p:cNvPr id="90" name="Google Shape;90;g1ff2dd2e300_0_23"/>
          <p:cNvSpPr txBox="1"/>
          <p:nvPr>
            <p:ph idx="1" type="body"/>
          </p:nvPr>
        </p:nvSpPr>
        <p:spPr>
          <a:xfrm>
            <a:off x="0" y="12428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Nos vamos a instalar también dos extensiones para trabajar con C#:</a:t>
            </a:r>
            <a:endParaRPr sz="5600"/>
          </a:p>
          <a:p>
            <a:pPr indent="-317500" lvl="0" marL="457200" rtl="0" algn="just">
              <a:lnSpc>
                <a:spcPct val="150000"/>
              </a:lnSpc>
              <a:spcBef>
                <a:spcPts val="1200"/>
              </a:spcBef>
              <a:spcAft>
                <a:spcPts val="0"/>
              </a:spcAft>
              <a:buSzPct val="100000"/>
              <a:buChar char="●"/>
            </a:pPr>
            <a:r>
              <a:rPr lang="es" sz="5600"/>
              <a:t>C# (Microsoft)</a:t>
            </a:r>
            <a:endParaRPr sz="5600"/>
          </a:p>
          <a:p>
            <a:pPr indent="-317500" lvl="0" marL="457200" rtl="0" algn="just">
              <a:lnSpc>
                <a:spcPct val="150000"/>
              </a:lnSpc>
              <a:spcBef>
                <a:spcPts val="0"/>
              </a:spcBef>
              <a:spcAft>
                <a:spcPts val="0"/>
              </a:spcAft>
              <a:buSzPct val="100000"/>
              <a:buChar char="●"/>
            </a:pPr>
            <a:r>
              <a:rPr lang="es" sz="5600"/>
              <a:t>C# Dev Kit (Microsoft)</a:t>
            </a:r>
            <a:endParaRPr sz="5600"/>
          </a:p>
          <a:p>
            <a:pPr indent="0" lvl="0" marL="45720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Para poder correr C#, debemos instalar el SDK de .NET Core desde el sitio web oficial de .NET:</a:t>
            </a:r>
            <a:endParaRPr sz="5600"/>
          </a:p>
          <a:p>
            <a:pPr indent="0" lvl="0" marL="0" rtl="0" algn="just">
              <a:lnSpc>
                <a:spcPct val="150000"/>
              </a:lnSpc>
              <a:spcBef>
                <a:spcPts val="1200"/>
              </a:spcBef>
              <a:spcAft>
                <a:spcPts val="0"/>
              </a:spcAft>
              <a:buSzPct val="128571"/>
              <a:buNone/>
            </a:pPr>
            <a:r>
              <a:rPr lang="es" sz="5600" u="sng">
                <a:solidFill>
                  <a:schemeClr val="hlink"/>
                </a:solidFill>
                <a:hlinkClick r:id="rId3"/>
              </a:rPr>
              <a:t>https://dotnet.microsoft.com/es-es/download</a:t>
            </a:r>
            <a:r>
              <a:rPr lang="es" sz="5600"/>
              <a:t>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91" name="Google Shape;91;g1ff2dd2e300_0_23"/>
          <p:cNvPicPr preferRelativeResize="0"/>
          <p:nvPr/>
        </p:nvPicPr>
        <p:blipFill rotWithShape="1">
          <a:blip r:embed="rId4">
            <a:alphaModFix/>
          </a:blip>
          <a:srcRect b="0" l="0" r="0" t="0"/>
          <a:stretch/>
        </p:blipFill>
        <p:spPr>
          <a:xfrm>
            <a:off x="520813" y="2338788"/>
            <a:ext cx="7461874" cy="1523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1ff2dd2e300_0_31"/>
          <p:cNvSpPr txBox="1"/>
          <p:nvPr>
            <p:ph idx="1" type="body"/>
          </p:nvPr>
        </p:nvSpPr>
        <p:spPr>
          <a:xfrm>
            <a:off x="0" y="142770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Vamos ahora a crear una carpeta de nombre “Testing”. Y la abrimos en la terminal de VS Code.</a:t>
            </a:r>
            <a:endParaRPr sz="5600"/>
          </a:p>
          <a:p>
            <a:pPr indent="0" lvl="0" marL="0" rtl="0" algn="just">
              <a:lnSpc>
                <a:spcPct val="150000"/>
              </a:lnSpc>
              <a:spcBef>
                <a:spcPts val="1200"/>
              </a:spcBef>
              <a:spcAft>
                <a:spcPts val="0"/>
              </a:spcAft>
              <a:buSzPct val="128571"/>
              <a:buNone/>
            </a:pPr>
            <a:r>
              <a:rPr lang="es" sz="5600"/>
              <a:t>Para asegurarnos de que C# esté funcionando, vamos a crear una subcarpeta dentro de testing que le pondremos de nombre “Prueba”. Accedemos en la terminal a ella mediante cd prueba en la terminal. Y ponemos el siguiente comando:</a:t>
            </a:r>
            <a:endParaRPr sz="5600"/>
          </a:p>
          <a:p>
            <a:pPr indent="0" lvl="0" marL="0" rtl="0" algn="just">
              <a:lnSpc>
                <a:spcPct val="150000"/>
              </a:lnSpc>
              <a:spcBef>
                <a:spcPts val="1200"/>
              </a:spcBef>
              <a:spcAft>
                <a:spcPts val="0"/>
              </a:spcAft>
              <a:buSzPct val="128571"/>
              <a:buNone/>
            </a:pPr>
            <a:r>
              <a:rPr lang="es" sz="5600"/>
              <a:t>dotnet new console</a:t>
            </a:r>
            <a:endParaRPr sz="5600"/>
          </a:p>
          <a:p>
            <a:pPr indent="0" lvl="0" marL="0" rtl="0" algn="just">
              <a:lnSpc>
                <a:spcPct val="150000"/>
              </a:lnSpc>
              <a:spcBef>
                <a:spcPts val="1200"/>
              </a:spcBef>
              <a:spcAft>
                <a:spcPts val="0"/>
              </a:spcAft>
              <a:buSzPct val="128571"/>
              <a:buNone/>
            </a:pPr>
            <a:r>
              <a:rPr lang="es" sz="5600"/>
              <a:t>Esto nos creará un mini proyecto en C# con un archivo Program.cs, que dentro tiene un mensaje por consola. Para poder correr y verlo en nuestra consola, escribimos:</a:t>
            </a:r>
            <a:endParaRPr sz="5600"/>
          </a:p>
          <a:p>
            <a:pPr indent="0" lvl="0" marL="0" rtl="0" algn="just">
              <a:lnSpc>
                <a:spcPct val="150000"/>
              </a:lnSpc>
              <a:spcBef>
                <a:spcPts val="1200"/>
              </a:spcBef>
              <a:spcAft>
                <a:spcPts val="0"/>
              </a:spcAft>
              <a:buSzPct val="128571"/>
              <a:buNone/>
            </a:pPr>
            <a:r>
              <a:rPr lang="es" sz="5600"/>
              <a:t>dotnet run</a:t>
            </a:r>
            <a:endParaRPr sz="5600"/>
          </a:p>
          <a:p>
            <a:pPr indent="0" lvl="0" marL="45720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1ff2dd2e300_0_41"/>
          <p:cNvSpPr txBox="1"/>
          <p:nvPr>
            <p:ph idx="1" type="body"/>
          </p:nvPr>
        </p:nvSpPr>
        <p:spPr>
          <a:xfrm>
            <a:off x="0" y="130807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Lo anterior fue para corroborar que C# corra normalmente en nuestro editor.</a:t>
            </a:r>
            <a:endParaRPr sz="5600"/>
          </a:p>
          <a:p>
            <a:pPr indent="0" lvl="0" marL="0" rtl="0" algn="just">
              <a:lnSpc>
                <a:spcPct val="150000"/>
              </a:lnSpc>
              <a:spcBef>
                <a:spcPts val="1200"/>
              </a:spcBef>
              <a:spcAft>
                <a:spcPts val="0"/>
              </a:spcAft>
              <a:buSzPct val="128571"/>
              <a:buNone/>
            </a:pPr>
            <a:r>
              <a:rPr lang="es" sz="5600"/>
              <a:t>Ahora, podemos borrar la carpeta de Prueba, y dentro de la carpeta de Testing escribimos el siguiente comando:</a:t>
            </a:r>
            <a:endParaRPr sz="5600"/>
          </a:p>
          <a:p>
            <a:pPr indent="0" lvl="0" marL="0" rtl="0" algn="just">
              <a:lnSpc>
                <a:spcPct val="150000"/>
              </a:lnSpc>
              <a:spcBef>
                <a:spcPts val="1200"/>
              </a:spcBef>
              <a:spcAft>
                <a:spcPts val="0"/>
              </a:spcAft>
              <a:buSzPct val="128571"/>
              <a:buNone/>
            </a:pPr>
            <a:r>
              <a:rPr b="1" lang="es" sz="5600" u="sng"/>
              <a:t>dotnet new nunit</a:t>
            </a:r>
            <a:endParaRPr b="1" sz="5600" u="sng"/>
          </a:p>
          <a:p>
            <a:pPr indent="0" lvl="0" marL="0" rtl="0" algn="just">
              <a:lnSpc>
                <a:spcPct val="150000"/>
              </a:lnSpc>
              <a:spcBef>
                <a:spcPts val="1200"/>
              </a:spcBef>
              <a:spcAft>
                <a:spcPts val="0"/>
              </a:spcAft>
              <a:buSzPct val="128571"/>
              <a:buNone/>
            </a:pPr>
            <a:r>
              <a:rPr lang="es" sz="5600"/>
              <a:t>Esto creará un nuevo proyecto de prueba NUnit en el directorio en el que estamos.</a:t>
            </a:r>
            <a:endParaRPr sz="5600"/>
          </a:p>
          <a:p>
            <a:pPr indent="0" lvl="0" marL="0" rtl="0" algn="just">
              <a:lnSpc>
                <a:spcPct val="150000"/>
              </a:lnSpc>
              <a:spcBef>
                <a:spcPts val="1200"/>
              </a:spcBef>
              <a:spcAft>
                <a:spcPts val="0"/>
              </a:spcAft>
              <a:buSzPct val="128571"/>
              <a:buNone/>
            </a:pPr>
            <a:r>
              <a:rPr lang="es" sz="5600"/>
              <a:t>El archivo que nos interesa acá es el de “UnitTest1.cs”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102" name="Google Shape;102;g1ff2dd2e300_0_41"/>
          <p:cNvPicPr preferRelativeResize="0"/>
          <p:nvPr/>
        </p:nvPicPr>
        <p:blipFill rotWithShape="1">
          <a:blip r:embed="rId3">
            <a:alphaModFix/>
          </a:blip>
          <a:srcRect b="0" l="0" r="0" t="0"/>
          <a:stretch/>
        </p:blipFill>
        <p:spPr>
          <a:xfrm>
            <a:off x="387899" y="3706475"/>
            <a:ext cx="1706125" cy="1371775"/>
          </a:xfrm>
          <a:prstGeom prst="rect">
            <a:avLst/>
          </a:prstGeom>
          <a:noFill/>
          <a:ln>
            <a:noFill/>
          </a:ln>
        </p:spPr>
      </p:pic>
      <p:sp>
        <p:nvSpPr>
          <p:cNvPr id="103" name="Google Shape;103;g1ff2dd2e300_0_41"/>
          <p:cNvSpPr/>
          <p:nvPr/>
        </p:nvSpPr>
        <p:spPr>
          <a:xfrm>
            <a:off x="502400" y="4821625"/>
            <a:ext cx="1239600" cy="2565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ff2dd2e300_0_51"/>
          <p:cNvSpPr txBox="1"/>
          <p:nvPr>
            <p:ph idx="1" type="body"/>
          </p:nvPr>
        </p:nvSpPr>
        <p:spPr>
          <a:xfrm>
            <a:off x="-43500" y="13623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Dentro de ese archivo, nos encontramos con el siguiente código:</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109" name="Google Shape;109;g1ff2dd2e300_0_51"/>
          <p:cNvPicPr preferRelativeResize="0"/>
          <p:nvPr/>
        </p:nvPicPr>
        <p:blipFill rotWithShape="1">
          <a:blip r:embed="rId3">
            <a:alphaModFix/>
          </a:blip>
          <a:srcRect b="0" l="0" r="0" t="0"/>
          <a:stretch/>
        </p:blipFill>
        <p:spPr>
          <a:xfrm>
            <a:off x="303750" y="1991775"/>
            <a:ext cx="1772750" cy="2717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ff2dd2e300_0_59"/>
          <p:cNvSpPr txBox="1"/>
          <p:nvPr>
            <p:ph idx="1" type="body"/>
          </p:nvPr>
        </p:nvSpPr>
        <p:spPr>
          <a:xfrm>
            <a:off x="-43500" y="1362325"/>
            <a:ext cx="90822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Clase Tests: Clase que creamos haciendo un nuevo proyecto de nunit, contiene métodos de prueba unitaria.</a:t>
            </a:r>
            <a:endParaRPr sz="5600"/>
          </a:p>
          <a:p>
            <a:pPr indent="0" lvl="0" marL="0" rtl="0" algn="just">
              <a:lnSpc>
                <a:spcPct val="150000"/>
              </a:lnSpc>
              <a:spcBef>
                <a:spcPts val="1200"/>
              </a:spcBef>
              <a:spcAft>
                <a:spcPts val="0"/>
              </a:spcAft>
              <a:buSzPct val="128571"/>
              <a:buNone/>
            </a:pPr>
            <a:r>
              <a:rPr lang="es" sz="5600"/>
              <a:t>Setup: Está decorado con el atributo [SetUp]. El atributo [SetUp] en NUnit se utiliza para marcar un método que se ejecutará antes de cada prueba en la clase de pruebas. En definitiva, nos puede servir como configuración inicial de cada prueba.</a:t>
            </a:r>
            <a:endParaRPr sz="5600"/>
          </a:p>
          <a:p>
            <a:pPr indent="0" lvl="0" marL="0" rtl="0" algn="just">
              <a:lnSpc>
                <a:spcPct val="150000"/>
              </a:lnSpc>
              <a:spcBef>
                <a:spcPts val="1200"/>
              </a:spcBef>
              <a:spcAft>
                <a:spcPts val="0"/>
              </a:spcAft>
              <a:buSzPct val="128571"/>
              <a:buNone/>
            </a:pPr>
            <a:r>
              <a:rPr lang="es" sz="5600"/>
              <a:t>Test1: está decorado con el atributo [Test]. Este es un método de prueba unitaria real. En este caso, contiene solo una llamada a Assert.Pass(), lo que indica que la prueba siempre pasará. Assert.Pass() simplemente indica que la prueba fue exitosa y puede ser útil para probar configuraciones o para pruebas de lugar.</a:t>
            </a:r>
            <a:endParaRPr sz="5600"/>
          </a:p>
          <a:p>
            <a:pPr indent="0" lvl="0" marL="0" rtl="0" algn="just">
              <a:lnSpc>
                <a:spcPct val="150000"/>
              </a:lnSpc>
              <a:spcBef>
                <a:spcPts val="1200"/>
              </a:spcBef>
              <a:spcAft>
                <a:spcPts val="0"/>
              </a:spcAft>
              <a:buSzPct val="128571"/>
              <a:buNone/>
            </a:pPr>
            <a:r>
              <a:rPr lang="es" sz="5600"/>
              <a:t>Para correr el archivo, ponemos el siguiente comando:</a:t>
            </a:r>
            <a:endParaRPr sz="5600"/>
          </a:p>
          <a:p>
            <a:pPr indent="0" lvl="0" marL="0" rtl="0" algn="just">
              <a:lnSpc>
                <a:spcPct val="150000"/>
              </a:lnSpc>
              <a:spcBef>
                <a:spcPts val="1200"/>
              </a:spcBef>
              <a:spcAft>
                <a:spcPts val="0"/>
              </a:spcAft>
              <a:buSzPct val="128571"/>
              <a:buNone/>
            </a:pPr>
            <a:r>
              <a:rPr lang="es" sz="5600"/>
              <a:t>dotnet test</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
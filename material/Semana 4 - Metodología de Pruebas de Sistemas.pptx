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Slab"/>
      <p:regular r:id="rId18"/>
      <p:bold r:id="rId19"/>
    </p:embeddedFon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4" roundtripDataSignature="AMtx7miZ/C4wpg9+o2YALw9GYel/06aK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Slab-bold.fntdata"/><Relationship Id="rId6" Type="http://schemas.openxmlformats.org/officeDocument/2006/relationships/slide" Target="slides/slide1.xml"/><Relationship Id="rId18" Type="http://schemas.openxmlformats.org/officeDocument/2006/relationships/font" Target="fonts/RobotoSlab-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f79d3b614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1f79d3b6149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f79d3b614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1f79d3b6149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f79d3b614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1f79d3b6149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f79d3b614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1f79d3b6149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f79d3b614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1f79d3b6149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f79d3b6149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1f79d3b6149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f79d3b6149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1f79d3b6149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f79d3b6149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1f79d3b6149_1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f79d3b6149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1f79d3b6149_1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a916062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7a9160628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a9160628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7a91606289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14"/>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14"/>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14"/>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4" name="Google Shape;14;p14"/>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1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1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1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cxnSp>
        <p:nvCxnSpPr>
          <p:cNvPr id="22" name="Google Shape;22;p16"/>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23" name="Google Shape;23;p16"/>
          <p:cNvSpPr txBox="1"/>
          <p:nvPr>
            <p:ph type="title"/>
          </p:nvPr>
        </p:nvSpPr>
        <p:spPr>
          <a:xfrm>
            <a:off x="480750" y="1764950"/>
            <a:ext cx="8222100" cy="907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17"/>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1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17"/>
          <p:cNvSpPr txBox="1"/>
          <p:nvPr>
            <p:ph idx="1" type="body"/>
          </p:nvPr>
        </p:nvSpPr>
        <p:spPr>
          <a:xfrm>
            <a:off x="3879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7"/>
          <p:cNvSpPr txBox="1"/>
          <p:nvPr>
            <p:ph idx="2" type="body"/>
          </p:nvPr>
        </p:nvSpPr>
        <p:spPr>
          <a:xfrm>
            <a:off x="47562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19"/>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19"/>
          <p:cNvSpPr txBox="1"/>
          <p:nvPr>
            <p:ph type="title"/>
          </p:nvPr>
        </p:nvSpPr>
        <p:spPr>
          <a:xfrm>
            <a:off x="3879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19"/>
          <p:cNvSpPr txBox="1"/>
          <p:nvPr>
            <p:ph idx="1" type="body"/>
          </p:nvPr>
        </p:nvSpPr>
        <p:spPr>
          <a:xfrm>
            <a:off x="387900" y="1594025"/>
            <a:ext cx="2808000" cy="2681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20"/>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21"/>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21"/>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21"/>
          <p:cNvSpPr txBox="1"/>
          <p:nvPr>
            <p:ph type="title"/>
          </p:nvPr>
        </p:nvSpPr>
        <p:spPr>
          <a:xfrm>
            <a:off x="265500" y="1209075"/>
            <a:ext cx="4045200" cy="1506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6" name="Google Shape;46;p21"/>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22"/>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23"/>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3"/>
          <p:cNvSpPr txBox="1"/>
          <p:nvPr>
            <p:ph hasCustomPrompt="1" type="title"/>
          </p:nvPr>
        </p:nvSpPr>
        <p:spPr>
          <a:xfrm>
            <a:off x="387900" y="1152450"/>
            <a:ext cx="83682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5"/>
              </a:buClr>
              <a:buSzPts val="13000"/>
              <a:buNone/>
              <a:defRPr sz="13000">
                <a:solidFill>
                  <a:schemeClr val="accent5"/>
                </a:solidFill>
              </a:defRPr>
            </a:lvl1pPr>
            <a:lvl2pPr lvl="1" algn="ctr">
              <a:lnSpc>
                <a:spcPct val="100000"/>
              </a:lnSpc>
              <a:spcBef>
                <a:spcPts val="0"/>
              </a:spcBef>
              <a:spcAft>
                <a:spcPts val="0"/>
              </a:spcAft>
              <a:buClr>
                <a:schemeClr val="accent5"/>
              </a:buClr>
              <a:buSzPts val="13000"/>
              <a:buNone/>
              <a:defRPr sz="13000">
                <a:solidFill>
                  <a:schemeClr val="accent5"/>
                </a:solidFill>
              </a:defRPr>
            </a:lvl2pPr>
            <a:lvl3pPr lvl="2" algn="ctr">
              <a:lnSpc>
                <a:spcPct val="100000"/>
              </a:lnSpc>
              <a:spcBef>
                <a:spcPts val="0"/>
              </a:spcBef>
              <a:spcAft>
                <a:spcPts val="0"/>
              </a:spcAft>
              <a:buClr>
                <a:schemeClr val="accent5"/>
              </a:buClr>
              <a:buSzPts val="13000"/>
              <a:buNone/>
              <a:defRPr sz="13000">
                <a:solidFill>
                  <a:schemeClr val="accent5"/>
                </a:solidFill>
              </a:defRPr>
            </a:lvl3pPr>
            <a:lvl4pPr lvl="3" algn="ctr">
              <a:lnSpc>
                <a:spcPct val="100000"/>
              </a:lnSpc>
              <a:spcBef>
                <a:spcPts val="0"/>
              </a:spcBef>
              <a:spcAft>
                <a:spcPts val="0"/>
              </a:spcAft>
              <a:buClr>
                <a:schemeClr val="accent5"/>
              </a:buClr>
              <a:buSzPts val="13000"/>
              <a:buNone/>
              <a:defRPr sz="13000">
                <a:solidFill>
                  <a:schemeClr val="accent5"/>
                </a:solidFill>
              </a:defRPr>
            </a:lvl4pPr>
            <a:lvl5pPr lvl="4" algn="ctr">
              <a:lnSpc>
                <a:spcPct val="100000"/>
              </a:lnSpc>
              <a:spcBef>
                <a:spcPts val="0"/>
              </a:spcBef>
              <a:spcAft>
                <a:spcPts val="0"/>
              </a:spcAft>
              <a:buClr>
                <a:schemeClr val="accent5"/>
              </a:buClr>
              <a:buSzPts val="13000"/>
              <a:buNone/>
              <a:defRPr sz="13000">
                <a:solidFill>
                  <a:schemeClr val="accent5"/>
                </a:solidFill>
              </a:defRPr>
            </a:lvl5pPr>
            <a:lvl6pPr lvl="5" algn="ctr">
              <a:lnSpc>
                <a:spcPct val="100000"/>
              </a:lnSpc>
              <a:spcBef>
                <a:spcPts val="0"/>
              </a:spcBef>
              <a:spcAft>
                <a:spcPts val="0"/>
              </a:spcAft>
              <a:buClr>
                <a:schemeClr val="accent5"/>
              </a:buClr>
              <a:buSzPts val="13000"/>
              <a:buNone/>
              <a:defRPr sz="13000">
                <a:solidFill>
                  <a:schemeClr val="accent5"/>
                </a:solidFill>
              </a:defRPr>
            </a:lvl6pPr>
            <a:lvl7pPr lvl="6" algn="ctr">
              <a:lnSpc>
                <a:spcPct val="100000"/>
              </a:lnSpc>
              <a:spcBef>
                <a:spcPts val="0"/>
              </a:spcBef>
              <a:spcAft>
                <a:spcPts val="0"/>
              </a:spcAft>
              <a:buClr>
                <a:schemeClr val="accent5"/>
              </a:buClr>
              <a:buSzPts val="13000"/>
              <a:buNone/>
              <a:defRPr sz="13000">
                <a:solidFill>
                  <a:schemeClr val="accent5"/>
                </a:solidFill>
              </a:defRPr>
            </a:lvl7pPr>
            <a:lvl8pPr lvl="7" algn="ctr">
              <a:lnSpc>
                <a:spcPct val="100000"/>
              </a:lnSpc>
              <a:spcBef>
                <a:spcPts val="0"/>
              </a:spcBef>
              <a:spcAft>
                <a:spcPts val="0"/>
              </a:spcAft>
              <a:buClr>
                <a:schemeClr val="accent5"/>
              </a:buClr>
              <a:buSzPts val="13000"/>
              <a:buNone/>
              <a:defRPr sz="13000">
                <a:solidFill>
                  <a:schemeClr val="accent5"/>
                </a:solidFill>
              </a:defRPr>
            </a:lvl8pPr>
            <a:lvl9pPr lvl="8" algn="ctr">
              <a:lnSpc>
                <a:spcPct val="100000"/>
              </a:lnSpc>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23"/>
          <p:cNvSpPr txBox="1"/>
          <p:nvPr>
            <p:ph idx="1" type="body"/>
          </p:nvPr>
        </p:nvSpPr>
        <p:spPr>
          <a:xfrm>
            <a:off x="387900" y="2919450"/>
            <a:ext cx="83682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1pPr>
            <a:lvl2pPr lvl="1"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2pPr>
            <a:lvl3pPr lvl="2"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3pPr>
            <a:lvl4pPr lvl="3"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4pPr>
            <a:lvl5pPr lvl="4"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5pPr>
            <a:lvl6pPr lvl="5"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6pPr>
            <a:lvl7pPr lvl="6"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7pPr>
            <a:lvl8pPr lvl="7"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8pPr>
            <a:lvl9pPr lvl="8"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9pPr>
          </a:lstStyle>
          <a:p/>
        </p:txBody>
      </p:sp>
      <p:sp>
        <p:nvSpPr>
          <p:cNvPr id="7" name="Google Shape;7;p1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9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768425" y="1188925"/>
            <a:ext cx="7609800" cy="1457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000"/>
              <a:buNone/>
            </a:pPr>
            <a:r>
              <a:rPr lang="es"/>
              <a:t>Semana 4</a:t>
            </a:r>
            <a:endParaRPr/>
          </a:p>
        </p:txBody>
      </p:sp>
      <p:sp>
        <p:nvSpPr>
          <p:cNvPr id="64" name="Google Shape;64;p1"/>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a:t>Prof. Kevin Del Bello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1f79d3b6149_0_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Cuando un tester o un equipo de pruebas encuentra un defecto en el software, el bug advocacy implica comunicar de manera efectiva la importancia y las implicaciones del error a los desarrolladores y otras partes interesadas en el proyecto. Esto puede implicar proporcionar información detallada sobre cómo reproducir el error, los posibles efectos secundarios que puede tener en el sistema y cualquier otro detalle relevante que ayude a priorizar y resolver el problema de manera eficiente.</a:t>
            </a:r>
            <a:endParaRPr sz="5600"/>
          </a:p>
          <a:p>
            <a:pPr indent="0" lvl="0" marL="0" rtl="0" algn="just">
              <a:lnSpc>
                <a:spcPct val="150000"/>
              </a:lnSpc>
              <a:spcBef>
                <a:spcPts val="1200"/>
              </a:spcBef>
              <a:spcAft>
                <a:spcPts val="0"/>
              </a:spcAft>
              <a:buSzPct val="128571"/>
              <a:buNone/>
            </a:pPr>
            <a:r>
              <a:rPr lang="es" sz="5600"/>
              <a:t>El objetivo del bug advocacy es garantizar que los errores críticos se aborden de manera oportuna y efectiva, lo que contribuye a mejorar la calidad y la fiabilidad del software final. Una comunicación clara y una colaboración efectiva entre los equipos de pruebas y desarrollo son fundamentales para el éxito de esta práctica.</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70" name="Google Shape;70;g1f79d3b6149_0_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Bug Advocacy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1f79d3b6149_0_11"/>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Dentro de la filosofía Bug Advocacy, existen 3 elementos muy importantes:</a:t>
            </a:r>
            <a:endParaRPr sz="5600"/>
          </a:p>
          <a:p>
            <a:pPr indent="-317500" lvl="0" marL="457200" rtl="0" algn="just">
              <a:lnSpc>
                <a:spcPct val="150000"/>
              </a:lnSpc>
              <a:spcBef>
                <a:spcPts val="1200"/>
              </a:spcBef>
              <a:spcAft>
                <a:spcPts val="0"/>
              </a:spcAft>
              <a:buSzPct val="100000"/>
              <a:buChar char="❖"/>
            </a:pPr>
            <a:r>
              <a:rPr lang="es" sz="5600"/>
              <a:t>Calidad: El profesor Gerald “Jerry” Weinberg define la calidad como el valor para alguien. La filosofía Bug Advocacy involucra hacer énfasis en el valor del software perdido debido a los errores y defectos.</a:t>
            </a:r>
            <a:endParaRPr sz="5600"/>
          </a:p>
          <a:p>
            <a:pPr indent="-317500" lvl="0" marL="457200" rtl="0" algn="just">
              <a:lnSpc>
                <a:spcPct val="150000"/>
              </a:lnSpc>
              <a:spcBef>
                <a:spcPts val="0"/>
              </a:spcBef>
              <a:spcAft>
                <a:spcPts val="0"/>
              </a:spcAft>
              <a:buSzPct val="100000"/>
              <a:buChar char="❖"/>
            </a:pPr>
            <a:r>
              <a:rPr lang="es" sz="5600"/>
              <a:t>Clientes: Las diferentes personas con interés en un software en particular tienen diferentes percepciones de qué es valioso y qué no. Un cliente externo no necesariamente percibe como valioso lo que sí es valioso para un cliente interno. La filosofía Bug Advocacy implica mirar el software considerando todas las perspectivas.</a:t>
            </a:r>
            <a:endParaRPr sz="5600"/>
          </a:p>
          <a:p>
            <a:pPr indent="-317500" lvl="0" marL="457200" rtl="0" algn="just">
              <a:lnSpc>
                <a:spcPct val="150000"/>
              </a:lnSpc>
              <a:spcBef>
                <a:spcPts val="0"/>
              </a:spcBef>
              <a:spcAft>
                <a:spcPts val="0"/>
              </a:spcAft>
              <a:buSzPct val="100000"/>
              <a:buChar char="❖"/>
            </a:pPr>
            <a:r>
              <a:rPr lang="es" sz="5600"/>
              <a:t>Éxito del producto: El éxito a largo plazo de un producto viene de la aceptación de sus usuarios y de decisiones conscientes. La filosofía de Bug Advocacy nos permitirá mostrar la información de los problemas y errores de forma que los involucrados en el desarrollo de un software puedan tomar esas decisiones de forma consciente y bien informados.</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76" name="Google Shape;76;g1f79d3b6149_0_11"/>
          <p:cNvSpPr txBox="1"/>
          <p:nvPr>
            <p:ph type="title"/>
          </p:nvPr>
        </p:nvSpPr>
        <p:spPr>
          <a:xfrm>
            <a:off x="387900" y="261875"/>
            <a:ext cx="8368200" cy="1112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Conceptos importantes Bug Advocacy</a:t>
            </a:r>
            <a:endParaRPr/>
          </a:p>
          <a:p>
            <a:pPr indent="0" lvl="0" marL="0" rtl="0" algn="l">
              <a:lnSpc>
                <a:spcPct val="100000"/>
              </a:lnSpc>
              <a:spcBef>
                <a:spcPts val="0"/>
              </a:spcBef>
              <a:spcAft>
                <a:spcPts val="0"/>
              </a:spcAft>
              <a:buSzPts val="3000"/>
              <a:buNone/>
            </a:pPr>
            <a:r>
              <a:rPr lang="es"/>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1f79d3b6149_0_17"/>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Inicios y mediados del proyecto:</a:t>
            </a:r>
            <a:endParaRPr sz="5600"/>
          </a:p>
          <a:p>
            <a:pPr indent="0" lvl="0" marL="0" rtl="0" algn="just">
              <a:lnSpc>
                <a:spcPct val="150000"/>
              </a:lnSpc>
              <a:spcBef>
                <a:spcPts val="1200"/>
              </a:spcBef>
              <a:spcAft>
                <a:spcPts val="0"/>
              </a:spcAft>
              <a:buSzPct val="128571"/>
              <a:buNone/>
            </a:pPr>
            <a:r>
              <a:rPr lang="es" sz="5600"/>
              <a:t>Identificar diferentes errores y defectos en las etapas tempranas del desarrollo nos dará una ventaja cuando aboguemos por los errores. Es muy fácil defender el arreglo de los siguientes tipos de errores en estas etapas tempranas:</a:t>
            </a:r>
            <a:endParaRPr sz="5600"/>
          </a:p>
          <a:p>
            <a:pPr indent="0" lvl="0" marL="0" rtl="0" algn="just">
              <a:lnSpc>
                <a:spcPct val="150000"/>
              </a:lnSpc>
              <a:spcBef>
                <a:spcPts val="1200"/>
              </a:spcBef>
              <a:spcAft>
                <a:spcPts val="0"/>
              </a:spcAft>
              <a:buSzPct val="128571"/>
              <a:buNone/>
            </a:pPr>
            <a:r>
              <a:t/>
            </a:r>
            <a:endParaRPr sz="5600"/>
          </a:p>
          <a:p>
            <a:pPr indent="-317500" lvl="0" marL="457200" rtl="0" algn="just">
              <a:lnSpc>
                <a:spcPct val="150000"/>
              </a:lnSpc>
              <a:spcBef>
                <a:spcPts val="1200"/>
              </a:spcBef>
              <a:spcAft>
                <a:spcPts val="0"/>
              </a:spcAft>
              <a:buSzPct val="100000"/>
              <a:buChar char="●"/>
            </a:pPr>
            <a:r>
              <a:rPr lang="es" sz="5600"/>
              <a:t>Problemas de diseño.</a:t>
            </a:r>
            <a:endParaRPr sz="5600"/>
          </a:p>
          <a:p>
            <a:pPr indent="-317500" lvl="0" marL="457200" rtl="0" algn="just">
              <a:lnSpc>
                <a:spcPct val="150000"/>
              </a:lnSpc>
              <a:spcBef>
                <a:spcPts val="0"/>
              </a:spcBef>
              <a:spcAft>
                <a:spcPts val="0"/>
              </a:spcAft>
              <a:buSzPct val="100000"/>
              <a:buChar char="●"/>
            </a:pPr>
            <a:r>
              <a:rPr lang="es" sz="5600"/>
              <a:t>Problemas de experiencia de usuario (UX) e interfaz de usuario (UI).</a:t>
            </a:r>
            <a:endParaRPr sz="5600"/>
          </a:p>
          <a:p>
            <a:pPr indent="-317500" lvl="0" marL="457200" rtl="0" algn="just">
              <a:lnSpc>
                <a:spcPct val="150000"/>
              </a:lnSpc>
              <a:spcBef>
                <a:spcPts val="0"/>
              </a:spcBef>
              <a:spcAft>
                <a:spcPts val="0"/>
              </a:spcAft>
              <a:buSzPct val="100000"/>
              <a:buChar char="●"/>
            </a:pPr>
            <a:r>
              <a:rPr lang="es" sz="5600"/>
              <a:t>Problemas de usabilidad.</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82" name="Google Shape;82;g1f79d3b6149_0_17"/>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Bug Advocacy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1f79d3b6149_0_2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10000"/>
          </a:bodyPr>
          <a:lstStyle/>
          <a:p>
            <a:pPr indent="0" lvl="0" marL="457200" rtl="0" algn="just">
              <a:lnSpc>
                <a:spcPct val="150000"/>
              </a:lnSpc>
              <a:spcBef>
                <a:spcPts val="1200"/>
              </a:spcBef>
              <a:spcAft>
                <a:spcPts val="0"/>
              </a:spcAft>
              <a:buSzPct val="128571"/>
              <a:buNone/>
            </a:pPr>
            <a:r>
              <a:rPr lang="es" sz="5600"/>
              <a:t>Etapas tardías y finales del proyecto:</a:t>
            </a:r>
            <a:endParaRPr sz="5600"/>
          </a:p>
          <a:p>
            <a:pPr indent="-317500" lvl="0" marL="457200" rtl="0" algn="just">
              <a:lnSpc>
                <a:spcPct val="150000"/>
              </a:lnSpc>
              <a:spcBef>
                <a:spcPts val="1200"/>
              </a:spcBef>
              <a:spcAft>
                <a:spcPts val="0"/>
              </a:spcAft>
              <a:buSzPct val="100000"/>
              <a:buChar char="●"/>
            </a:pPr>
            <a:r>
              <a:rPr lang="es" sz="5600"/>
              <a:t>Este es el momento de concentrarnos en los problemas más grandes y los errores críticos. Los problemas mencionados en el apartado anterior no serán priorizados por el equipo de desarrollo debido a la cercanía de las fechas de entrega.</a:t>
            </a:r>
            <a:endParaRPr sz="5600"/>
          </a:p>
          <a:p>
            <a:pPr indent="-317500" lvl="0" marL="457200" rtl="0" algn="just">
              <a:lnSpc>
                <a:spcPct val="150000"/>
              </a:lnSpc>
              <a:spcBef>
                <a:spcPts val="0"/>
              </a:spcBef>
              <a:spcAft>
                <a:spcPts val="0"/>
              </a:spcAft>
              <a:buSzPct val="100000"/>
              <a:buChar char="●"/>
            </a:pPr>
            <a:r>
              <a:rPr lang="es" sz="5600"/>
              <a:t>Lo que debemos hacer es convencer a los/as programadores/as que deben utilizar su tiempo resolviendo y arreglando nuestro error (sí, el error, no es sólo del desarrollador que lo introdujo, sino también el comportamiento del tester), en vez de utilizarlo para desarrollar cosas nuevas o arreglar otros errores diferentes. Puede ocurrir que un producto de software tenga miles de errores, y el que nosotros encontramos sea sólo uno de ellos. Debemos hacer notar nuestro error y abogar por su corrección.</a:t>
            </a:r>
            <a:endParaRPr/>
          </a:p>
          <a:p>
            <a:pPr indent="360000" lvl="0" marL="0" rtl="0" algn="just">
              <a:lnSpc>
                <a:spcPct val="150000"/>
              </a:lnSpc>
              <a:spcBef>
                <a:spcPts val="1200"/>
              </a:spcBef>
              <a:spcAft>
                <a:spcPts val="1200"/>
              </a:spcAft>
              <a:buSzPts val="1800"/>
              <a:buNone/>
            </a:pPr>
            <a:r>
              <a:t/>
            </a:r>
            <a:endParaRPr/>
          </a:p>
        </p:txBody>
      </p:sp>
      <p:sp>
        <p:nvSpPr>
          <p:cNvPr id="88" name="Google Shape;88;g1f79d3b6149_0_2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Bug Advocacy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1f79d3b6149_0_31"/>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SzPts val="1800"/>
              <a:buNone/>
            </a:pPr>
            <a:r>
              <a:rPr lang="es" sz="1400"/>
              <a:t>Como se mencionó en la introducción de Bug Advocacy el error que encontramos es nuestro. No es un error del desarrollador, ni del analista funcional. Es un error de todos. Es por eso que es nuestra responsabilidad ver que se le de la atención necesaria para ese error o defecto en particular.</a:t>
            </a:r>
            <a:endParaRPr sz="1400"/>
          </a:p>
          <a:p>
            <a:pPr indent="0" lvl="0" marL="0" rtl="0" algn="just">
              <a:lnSpc>
                <a:spcPct val="150000"/>
              </a:lnSpc>
              <a:spcBef>
                <a:spcPts val="1200"/>
              </a:spcBef>
              <a:spcAft>
                <a:spcPts val="0"/>
              </a:spcAft>
              <a:buSzPts val="1800"/>
              <a:buNone/>
            </a:pPr>
            <a:r>
              <a:rPr lang="es" sz="1400"/>
              <a:t>Cuando ejecutamos pruebas y encontramos fallas, a veces hallamos un síntoma de algo que está mal, pero no el error real. Es decir que siempre debemos hacer seguimiento del error antes de reportarlo para probar que el defecto es una de dos cosas:</a:t>
            </a:r>
            <a:endParaRPr sz="1400"/>
          </a:p>
          <a:p>
            <a:pPr indent="-317500" lvl="0" marL="457200" rtl="0" algn="just">
              <a:lnSpc>
                <a:spcPct val="150000"/>
              </a:lnSpc>
              <a:spcBef>
                <a:spcPts val="1200"/>
              </a:spcBef>
              <a:spcAft>
                <a:spcPts val="0"/>
              </a:spcAft>
              <a:buSzPts val="1400"/>
              <a:buChar char="❏"/>
            </a:pPr>
            <a:r>
              <a:rPr lang="es" sz="1400"/>
              <a:t>Más serio de lo que aparenta a primera vista.</a:t>
            </a:r>
            <a:endParaRPr sz="1400"/>
          </a:p>
          <a:p>
            <a:pPr indent="-317500" lvl="0" marL="457200" rtl="0" algn="just">
              <a:lnSpc>
                <a:spcPct val="150000"/>
              </a:lnSpc>
              <a:spcBef>
                <a:spcPts val="0"/>
              </a:spcBef>
              <a:spcAft>
                <a:spcPts val="0"/>
              </a:spcAft>
              <a:buSzPts val="1400"/>
              <a:buChar char="❏"/>
            </a:pPr>
            <a:r>
              <a:rPr lang="es" sz="1400"/>
              <a:t>Más general de lo que aparenta a primera vista.</a:t>
            </a:r>
            <a:endParaRPr sz="1400"/>
          </a:p>
          <a:p>
            <a:pPr indent="0" lvl="0" marL="0" rtl="0" algn="just">
              <a:lnSpc>
                <a:spcPct val="150000"/>
              </a:lnSpc>
              <a:spcBef>
                <a:spcPts val="1200"/>
              </a:spcBef>
              <a:spcAft>
                <a:spcPts val="0"/>
              </a:spcAft>
              <a:buSzPts val="1800"/>
              <a:buNone/>
            </a:pPr>
            <a:r>
              <a:t/>
            </a:r>
            <a:endParaRPr sz="1400"/>
          </a:p>
          <a:p>
            <a:pPr indent="0" lvl="0" marL="0" rtl="0" algn="just">
              <a:lnSpc>
                <a:spcPct val="150000"/>
              </a:lnSpc>
              <a:spcBef>
                <a:spcPts val="1200"/>
              </a:spcBef>
              <a:spcAft>
                <a:spcPts val="1200"/>
              </a:spcAft>
              <a:buSzPts val="7200"/>
              <a:buNone/>
            </a:pPr>
            <a:r>
              <a:t/>
            </a:r>
            <a:endParaRPr sz="1400"/>
          </a:p>
        </p:txBody>
      </p:sp>
      <p:sp>
        <p:nvSpPr>
          <p:cNvPr id="94" name="Google Shape;94;g1f79d3b6149_0_31"/>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Bug Advocacy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1f79d3b6149_1_5"/>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SzPts val="1800"/>
              <a:buNone/>
            </a:pPr>
            <a:r>
              <a:rPr lang="es" sz="1400"/>
              <a:t>Cuando encontramos un error o defecto de programación, quiere decir que hemos encontrado al software en un estado que es distinto a las intenciones del desarrollador y que probablemente no esperaba. </a:t>
            </a:r>
            <a:endParaRPr sz="1400"/>
          </a:p>
          <a:p>
            <a:pPr indent="0" lvl="0" marL="0" rtl="0" algn="just">
              <a:lnSpc>
                <a:spcPct val="150000"/>
              </a:lnSpc>
              <a:spcBef>
                <a:spcPts val="1200"/>
              </a:spcBef>
              <a:spcAft>
                <a:spcPts val="0"/>
              </a:spcAft>
              <a:buSzPts val="1800"/>
              <a:buNone/>
            </a:pPr>
            <a:r>
              <a:rPr lang="es" sz="1400"/>
              <a:t>El Doctor Cem Kaner, experto en ingeniería de software reconocido por su trabajo en el campo de la calidad del software y las pruebas de software, realiza tres tipos de seguimiento:</a:t>
            </a:r>
            <a:endParaRPr sz="1400"/>
          </a:p>
          <a:p>
            <a:pPr indent="-317500" lvl="0" marL="457200" rtl="0" algn="just">
              <a:lnSpc>
                <a:spcPct val="150000"/>
              </a:lnSpc>
              <a:spcBef>
                <a:spcPts val="1200"/>
              </a:spcBef>
              <a:spcAft>
                <a:spcPts val="0"/>
              </a:spcAft>
              <a:buSzPts val="1400"/>
              <a:buChar char="●"/>
            </a:pPr>
            <a:r>
              <a:rPr lang="es" sz="1400"/>
              <a:t>Variar nuestro comportamiento, es decir, cambiar las condiciones en las que se da un error cambiando un poco los pasos del caso de prueba.</a:t>
            </a:r>
            <a:endParaRPr sz="1400"/>
          </a:p>
          <a:p>
            <a:pPr indent="-317500" lvl="0" marL="457200" rtl="0" algn="just">
              <a:lnSpc>
                <a:spcPct val="150000"/>
              </a:lnSpc>
              <a:spcBef>
                <a:spcPts val="0"/>
              </a:spcBef>
              <a:spcAft>
                <a:spcPts val="0"/>
              </a:spcAft>
              <a:buSzPts val="1400"/>
              <a:buChar char="●"/>
            </a:pPr>
            <a:r>
              <a:rPr lang="es" sz="1400"/>
              <a:t>Variar las opciones y configuraciones del programa, es decir cambiar el entorno del programa cambiando un poco las precondiciones del caso de prueba.</a:t>
            </a:r>
            <a:endParaRPr sz="1400"/>
          </a:p>
          <a:p>
            <a:pPr indent="-317500" lvl="0" marL="457200" rtl="0" algn="just">
              <a:lnSpc>
                <a:spcPct val="150000"/>
              </a:lnSpc>
              <a:spcBef>
                <a:spcPts val="0"/>
              </a:spcBef>
              <a:spcAft>
                <a:spcPts val="0"/>
              </a:spcAft>
              <a:buSzPts val="1400"/>
              <a:buChar char="●"/>
            </a:pPr>
            <a:r>
              <a:rPr lang="es" sz="1400"/>
              <a:t>Variar el entorno de software y hardware. Cambiar de máquina o servidor para probar exactamente lo mismo.</a:t>
            </a:r>
            <a:endParaRPr sz="1400"/>
          </a:p>
          <a:p>
            <a:pPr indent="0" lvl="0" marL="0" rtl="0" algn="just">
              <a:lnSpc>
                <a:spcPct val="150000"/>
              </a:lnSpc>
              <a:spcBef>
                <a:spcPts val="1200"/>
              </a:spcBef>
              <a:spcAft>
                <a:spcPts val="0"/>
              </a:spcAft>
              <a:buSzPts val="1800"/>
              <a:buNone/>
            </a:pPr>
            <a:r>
              <a:t/>
            </a:r>
            <a:endParaRPr sz="1400"/>
          </a:p>
          <a:p>
            <a:pPr indent="0" lvl="0" marL="0" rtl="0" algn="just">
              <a:lnSpc>
                <a:spcPct val="150000"/>
              </a:lnSpc>
              <a:spcBef>
                <a:spcPts val="1200"/>
              </a:spcBef>
              <a:spcAft>
                <a:spcPts val="1200"/>
              </a:spcAft>
              <a:buSzPts val="7200"/>
              <a:buNone/>
            </a:pPr>
            <a:r>
              <a:t/>
            </a:r>
            <a:endParaRPr sz="1400"/>
          </a:p>
        </p:txBody>
      </p:sp>
      <p:sp>
        <p:nvSpPr>
          <p:cNvPr id="100" name="Google Shape;100;g1f79d3b6149_1_5"/>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Error 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1f79d3b6149_1_1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SzPts val="1800"/>
              <a:buNone/>
            </a:pPr>
            <a:r>
              <a:rPr lang="es" sz="1400"/>
              <a:t>Los errores que no se dan en la máquina del desarrollador, pero sí en el entorno donde estamos probando tienen mucha menos credibilidad que los errores que ocurren en todos lados. </a:t>
            </a:r>
            <a:endParaRPr sz="1400"/>
          </a:p>
          <a:p>
            <a:pPr indent="0" lvl="0" marL="0" rtl="0" algn="just">
              <a:lnSpc>
                <a:spcPct val="150000"/>
              </a:lnSpc>
              <a:spcBef>
                <a:spcPts val="1200"/>
              </a:spcBef>
              <a:spcAft>
                <a:spcPts val="0"/>
              </a:spcAft>
              <a:buSzPts val="1800"/>
              <a:buNone/>
            </a:pPr>
            <a:r>
              <a:rPr lang="es" sz="1400"/>
              <a:t>En un caso ideal las pruebas se realizan en dos máquinas. Se puede probar tanto en una buena computadora con muy buenos recursos, como todo lo contrario, algo de gama baja. </a:t>
            </a:r>
            <a:endParaRPr sz="1400"/>
          </a:p>
          <a:p>
            <a:pPr indent="0" lvl="0" marL="0" rtl="0" algn="just">
              <a:lnSpc>
                <a:spcPct val="150000"/>
              </a:lnSpc>
              <a:spcBef>
                <a:spcPts val="1200"/>
              </a:spcBef>
              <a:spcAft>
                <a:spcPts val="0"/>
              </a:spcAft>
              <a:buSzPts val="1800"/>
              <a:buNone/>
            </a:pPr>
            <a:r>
              <a:rPr lang="es" sz="1400"/>
              <a:t>Usando esta técnica podemos hacer dos cosas:</a:t>
            </a:r>
            <a:endParaRPr sz="1400"/>
          </a:p>
          <a:p>
            <a:pPr indent="-317500" lvl="0" marL="457200" rtl="0" algn="just">
              <a:lnSpc>
                <a:spcPct val="150000"/>
              </a:lnSpc>
              <a:spcBef>
                <a:spcPts val="1200"/>
              </a:spcBef>
              <a:spcAft>
                <a:spcPts val="0"/>
              </a:spcAft>
              <a:buSzPts val="1400"/>
              <a:buChar char="➔"/>
            </a:pPr>
            <a:r>
              <a:rPr lang="es" sz="1400"/>
              <a:t>Asegurarnos que el error ocurre (o no) en varias configuraciones distintas. Si el error no ocurre en alguna de las 2 máquinas, pero sí en la otra, entonces tenemos un error dependiente de la configuración. </a:t>
            </a:r>
            <a:endParaRPr sz="1400"/>
          </a:p>
          <a:p>
            <a:pPr indent="-317500" lvl="0" marL="457200" rtl="0" algn="just">
              <a:lnSpc>
                <a:spcPct val="150000"/>
              </a:lnSpc>
              <a:spcBef>
                <a:spcPts val="0"/>
              </a:spcBef>
              <a:spcAft>
                <a:spcPts val="0"/>
              </a:spcAft>
              <a:buSzPts val="1400"/>
              <a:buChar char="➔"/>
            </a:pPr>
            <a:r>
              <a:rPr lang="es" sz="1400"/>
              <a:t>Asegurarnos que nuestro paso a paso es correcto. Si podemos ejecutar nuestro paso a paso sin problemas en ambas máquinas, quiere decir que la descripción es muy buena. </a:t>
            </a:r>
            <a:endParaRPr sz="1400"/>
          </a:p>
          <a:p>
            <a:pPr indent="0" lvl="0" marL="0" rtl="0" algn="just">
              <a:lnSpc>
                <a:spcPct val="150000"/>
              </a:lnSpc>
              <a:spcBef>
                <a:spcPts val="1200"/>
              </a:spcBef>
              <a:spcAft>
                <a:spcPts val="0"/>
              </a:spcAft>
              <a:buSzPts val="1800"/>
              <a:buNone/>
            </a:pPr>
            <a:r>
              <a:t/>
            </a:r>
            <a:endParaRPr sz="1400"/>
          </a:p>
          <a:p>
            <a:pPr indent="0" lvl="0" marL="0" rtl="0" algn="just">
              <a:lnSpc>
                <a:spcPct val="150000"/>
              </a:lnSpc>
              <a:spcBef>
                <a:spcPts val="1200"/>
              </a:spcBef>
              <a:spcAft>
                <a:spcPts val="0"/>
              </a:spcAft>
              <a:buSzPts val="1800"/>
              <a:buNone/>
            </a:pPr>
            <a:r>
              <a:t/>
            </a:r>
            <a:endParaRPr sz="1400"/>
          </a:p>
          <a:p>
            <a:pPr indent="0" lvl="0" marL="0" rtl="0" algn="just">
              <a:lnSpc>
                <a:spcPct val="150000"/>
              </a:lnSpc>
              <a:spcBef>
                <a:spcPts val="1200"/>
              </a:spcBef>
              <a:spcAft>
                <a:spcPts val="1200"/>
              </a:spcAft>
              <a:buSzPts val="7200"/>
              <a:buNone/>
            </a:pPr>
            <a:r>
              <a:t/>
            </a:r>
            <a:endParaRPr sz="1400"/>
          </a:p>
        </p:txBody>
      </p:sp>
      <p:sp>
        <p:nvSpPr>
          <p:cNvPr id="106" name="Google Shape;106;g1f79d3b6149_1_1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Error 2 “En mi máquina funciona”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1f79d3b6149_1_2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SzPts val="1800"/>
              <a:buNone/>
            </a:pPr>
            <a:r>
              <a:rPr lang="es" sz="1400"/>
              <a:t>Los errores deben ser reportados por más que sean difíciles de reproducir. Esos errores que son complicados de reproducir deben tener reportes claros y concisos. Cuando los pasos para un error son complicados de reproducir, necesitamos un reporte simple de leer con pasos concisos.</a:t>
            </a:r>
            <a:endParaRPr sz="1400"/>
          </a:p>
          <a:p>
            <a:pPr indent="0" lvl="0" marL="0" rtl="0" algn="just">
              <a:lnSpc>
                <a:spcPct val="150000"/>
              </a:lnSpc>
              <a:spcBef>
                <a:spcPts val="1200"/>
              </a:spcBef>
              <a:spcAft>
                <a:spcPts val="0"/>
              </a:spcAft>
              <a:buSzPts val="1800"/>
              <a:buNone/>
            </a:pPr>
            <a:r>
              <a:rPr lang="es" sz="1400"/>
              <a:t>Si estamos utilizando herramientas que nos ayudan a encontrar errores es importante incluirlas en el reporte.</a:t>
            </a:r>
            <a:endParaRPr sz="1400"/>
          </a:p>
          <a:p>
            <a:pPr indent="0" lvl="0" marL="0" rtl="0" algn="just">
              <a:lnSpc>
                <a:spcPct val="150000"/>
              </a:lnSpc>
              <a:spcBef>
                <a:spcPts val="1200"/>
              </a:spcBef>
              <a:spcAft>
                <a:spcPts val="0"/>
              </a:spcAft>
              <a:buSzPts val="1800"/>
              <a:buNone/>
            </a:pPr>
            <a:r>
              <a:rPr lang="es" sz="1400"/>
              <a:t>Una vez que terminemos de escribir nuestros reportes es una buena práctica mostrarlo a otros testers o otras personas del proyecto para asegurarnos que esas otras personas también pueden reproducir el error.</a:t>
            </a:r>
            <a:endParaRPr sz="1400"/>
          </a:p>
          <a:p>
            <a:pPr indent="0" lvl="0" marL="0" rtl="0" algn="just">
              <a:lnSpc>
                <a:spcPct val="150000"/>
              </a:lnSpc>
              <a:spcBef>
                <a:spcPts val="1200"/>
              </a:spcBef>
              <a:spcAft>
                <a:spcPts val="0"/>
              </a:spcAft>
              <a:buSzPts val="1800"/>
              <a:buNone/>
            </a:pPr>
            <a:r>
              <a:t/>
            </a:r>
            <a:endParaRPr sz="1400"/>
          </a:p>
          <a:p>
            <a:pPr indent="0" lvl="0" marL="0" rtl="0" algn="just">
              <a:lnSpc>
                <a:spcPct val="150000"/>
              </a:lnSpc>
              <a:spcBef>
                <a:spcPts val="1200"/>
              </a:spcBef>
              <a:spcAft>
                <a:spcPts val="0"/>
              </a:spcAft>
              <a:buSzPts val="1800"/>
              <a:buNone/>
            </a:pPr>
            <a:r>
              <a:t/>
            </a:r>
            <a:endParaRPr sz="1400"/>
          </a:p>
          <a:p>
            <a:pPr indent="0" lvl="0" marL="0" rtl="0" algn="just">
              <a:lnSpc>
                <a:spcPct val="150000"/>
              </a:lnSpc>
              <a:spcBef>
                <a:spcPts val="1200"/>
              </a:spcBef>
              <a:spcAft>
                <a:spcPts val="0"/>
              </a:spcAft>
              <a:buSzPts val="1800"/>
              <a:buNone/>
            </a:pPr>
            <a:r>
              <a:t/>
            </a:r>
            <a:endParaRPr sz="1400"/>
          </a:p>
          <a:p>
            <a:pPr indent="0" lvl="0" marL="0" rtl="0" algn="just">
              <a:lnSpc>
                <a:spcPct val="150000"/>
              </a:lnSpc>
              <a:spcBef>
                <a:spcPts val="1200"/>
              </a:spcBef>
              <a:spcAft>
                <a:spcPts val="1200"/>
              </a:spcAft>
              <a:buSzPts val="7200"/>
              <a:buNone/>
            </a:pPr>
            <a:r>
              <a:t/>
            </a:r>
            <a:endParaRPr sz="1400"/>
          </a:p>
        </p:txBody>
      </p:sp>
      <p:sp>
        <p:nvSpPr>
          <p:cNvPr id="112" name="Google Shape;112;g1f79d3b6149_1_2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Reportes claros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1f79d3b6149_1_32"/>
          <p:cNvSpPr txBox="1"/>
          <p:nvPr>
            <p:ph type="title"/>
          </p:nvPr>
        </p:nvSpPr>
        <p:spPr>
          <a:xfrm>
            <a:off x="387900" y="120500"/>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Ejemplo de error</a:t>
            </a:r>
            <a:endParaRPr/>
          </a:p>
        </p:txBody>
      </p:sp>
      <p:sp>
        <p:nvSpPr>
          <p:cNvPr id="118" name="Google Shape;118;g1f79d3b6149_1_32"/>
          <p:cNvSpPr txBox="1"/>
          <p:nvPr/>
        </p:nvSpPr>
        <p:spPr>
          <a:xfrm>
            <a:off x="267350" y="1447875"/>
            <a:ext cx="7220100" cy="24780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rgbClr val="000000"/>
              </a:buClr>
              <a:buSzPts val="1400"/>
              <a:buFont typeface="Arial"/>
              <a:buNone/>
            </a:pPr>
            <a:r>
              <a:rPr b="0" i="0" lang="es" sz="1400" u="none" cap="none" strike="noStrike">
                <a:solidFill>
                  <a:schemeClr val="dk1"/>
                </a:solidFill>
                <a:latin typeface="Roboto"/>
                <a:ea typeface="Roboto"/>
                <a:cs typeface="Roboto"/>
                <a:sym typeface="Roboto"/>
              </a:rPr>
              <a:t>Reporte sin bug advocacy:</a:t>
            </a:r>
            <a:endParaRPr b="0" i="0" sz="1400" u="none" cap="none" strike="noStrike">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b="0" i="0" lang="es" sz="1400" u="none" cap="none" strike="noStrike">
                <a:solidFill>
                  <a:schemeClr val="dk1"/>
                </a:solidFill>
                <a:latin typeface="Roboto"/>
                <a:ea typeface="Roboto"/>
                <a:cs typeface="Roboto"/>
                <a:sym typeface="Roboto"/>
              </a:rPr>
              <a:t>“No funciona el botón de guardar.”</a:t>
            </a:r>
            <a:endParaRPr b="0" i="0" sz="1400" u="none" cap="none" strike="noStrike">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b="0" i="0" lang="es" sz="1400" u="none" cap="none" strike="noStrike">
                <a:solidFill>
                  <a:schemeClr val="dk1"/>
                </a:solidFill>
                <a:latin typeface="Roboto"/>
                <a:ea typeface="Roboto"/>
                <a:cs typeface="Roboto"/>
                <a:sym typeface="Roboto"/>
              </a:rPr>
              <a:t>Reporte con bug advocacy:</a:t>
            </a:r>
            <a:endParaRPr b="0" i="0" sz="1400" u="none" cap="none" strike="noStrike">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b="0" i="0" lang="es" sz="1400" u="none" cap="none" strike="noStrike">
                <a:solidFill>
                  <a:schemeClr val="dk1"/>
                </a:solidFill>
                <a:latin typeface="Roboto"/>
                <a:ea typeface="Roboto"/>
                <a:cs typeface="Roboto"/>
                <a:sym typeface="Roboto"/>
              </a:rPr>
              <a:t>“Al presionar 'Guardar' en el formulario de clientes (paso 3 del flujo), la app lanza un error 500. Esto impide registrar nuevos clientes y afecta directamente el proceso de ventas. Ocurre en Chrome y Edge. Adjunto captura del error.”</a:t>
            </a:r>
            <a:endParaRPr b="0" i="0" sz="1400" u="none" cap="none" strike="noStrike">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7a91606289_0_0"/>
          <p:cNvSpPr txBox="1"/>
          <p:nvPr>
            <p:ph type="title"/>
          </p:nvPr>
        </p:nvSpPr>
        <p:spPr>
          <a:xfrm>
            <a:off x="387900" y="-67500"/>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Ejemplo de error completo</a:t>
            </a:r>
            <a:endParaRPr/>
          </a:p>
        </p:txBody>
      </p:sp>
      <p:sp>
        <p:nvSpPr>
          <p:cNvPr id="124" name="Google Shape;124;g37a91606289_0_0"/>
          <p:cNvSpPr txBox="1"/>
          <p:nvPr/>
        </p:nvSpPr>
        <p:spPr>
          <a:xfrm>
            <a:off x="213650" y="816725"/>
            <a:ext cx="6948000" cy="37866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ID: TC-05</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Nombre: Ingreso al sistema con credenciales válidas</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Pasos:</a:t>
            </a:r>
            <a:endParaRPr sz="1200">
              <a:solidFill>
                <a:schemeClr val="dk1"/>
              </a:solidFill>
              <a:latin typeface="Roboto"/>
              <a:ea typeface="Roboto"/>
              <a:cs typeface="Roboto"/>
              <a:sym typeface="Roboto"/>
            </a:endParaRPr>
          </a:p>
          <a:p>
            <a:pPr indent="-304800" lvl="0" marL="457200" marR="0" rtl="0" algn="just">
              <a:lnSpc>
                <a:spcPct val="150000"/>
              </a:lnSpc>
              <a:spcBef>
                <a:spcPts val="1200"/>
              </a:spcBef>
              <a:spcAft>
                <a:spcPts val="0"/>
              </a:spcAft>
              <a:buClr>
                <a:schemeClr val="dk1"/>
              </a:buClr>
              <a:buSzPts val="1200"/>
              <a:buFont typeface="Roboto"/>
              <a:buChar char="●"/>
            </a:pPr>
            <a:r>
              <a:rPr lang="es" sz="1200">
                <a:solidFill>
                  <a:schemeClr val="dk1"/>
                </a:solidFill>
                <a:latin typeface="Roboto"/>
                <a:ea typeface="Roboto"/>
                <a:cs typeface="Roboto"/>
                <a:sym typeface="Roboto"/>
              </a:rPr>
              <a:t>Abrir la aplicación.</a:t>
            </a:r>
            <a:endParaRPr sz="1200">
              <a:solidFill>
                <a:schemeClr val="dk1"/>
              </a:solidFill>
              <a:latin typeface="Roboto"/>
              <a:ea typeface="Roboto"/>
              <a:cs typeface="Roboto"/>
              <a:sym typeface="Roboto"/>
            </a:endParaRPr>
          </a:p>
          <a:p>
            <a:pPr indent="-304800" lvl="0" marL="457200" marR="0" rtl="0" algn="just">
              <a:lnSpc>
                <a:spcPct val="150000"/>
              </a:lnSpc>
              <a:spcBef>
                <a:spcPts val="0"/>
              </a:spcBef>
              <a:spcAft>
                <a:spcPts val="0"/>
              </a:spcAft>
              <a:buClr>
                <a:schemeClr val="dk1"/>
              </a:buClr>
              <a:buSzPts val="1200"/>
              <a:buFont typeface="Roboto"/>
              <a:buChar char="●"/>
            </a:pPr>
            <a:r>
              <a:rPr lang="es" sz="1200">
                <a:solidFill>
                  <a:schemeClr val="dk1"/>
                </a:solidFill>
                <a:latin typeface="Roboto"/>
                <a:ea typeface="Roboto"/>
                <a:cs typeface="Roboto"/>
                <a:sym typeface="Roboto"/>
              </a:rPr>
              <a:t>Ingresar usuario válido.</a:t>
            </a:r>
            <a:endParaRPr sz="1200">
              <a:solidFill>
                <a:schemeClr val="dk1"/>
              </a:solidFill>
              <a:latin typeface="Roboto"/>
              <a:ea typeface="Roboto"/>
              <a:cs typeface="Roboto"/>
              <a:sym typeface="Roboto"/>
            </a:endParaRPr>
          </a:p>
          <a:p>
            <a:pPr indent="-304800" lvl="0" marL="457200" marR="0" rtl="0" algn="just">
              <a:lnSpc>
                <a:spcPct val="150000"/>
              </a:lnSpc>
              <a:spcBef>
                <a:spcPts val="0"/>
              </a:spcBef>
              <a:spcAft>
                <a:spcPts val="0"/>
              </a:spcAft>
              <a:buClr>
                <a:schemeClr val="dk1"/>
              </a:buClr>
              <a:buSzPts val="1200"/>
              <a:buFont typeface="Roboto"/>
              <a:buChar char="●"/>
            </a:pPr>
            <a:r>
              <a:rPr lang="es" sz="1200">
                <a:solidFill>
                  <a:schemeClr val="dk1"/>
                </a:solidFill>
                <a:latin typeface="Roboto"/>
                <a:ea typeface="Roboto"/>
                <a:cs typeface="Roboto"/>
                <a:sym typeface="Roboto"/>
              </a:rPr>
              <a:t>Ingresar contraseña válida.</a:t>
            </a:r>
            <a:endParaRPr sz="1200">
              <a:solidFill>
                <a:schemeClr val="dk1"/>
              </a:solidFill>
              <a:latin typeface="Roboto"/>
              <a:ea typeface="Roboto"/>
              <a:cs typeface="Roboto"/>
              <a:sym typeface="Roboto"/>
            </a:endParaRPr>
          </a:p>
          <a:p>
            <a:pPr indent="-304800" lvl="0" marL="457200" marR="0" rtl="0" algn="just">
              <a:lnSpc>
                <a:spcPct val="150000"/>
              </a:lnSpc>
              <a:spcBef>
                <a:spcPts val="0"/>
              </a:spcBef>
              <a:spcAft>
                <a:spcPts val="0"/>
              </a:spcAft>
              <a:buClr>
                <a:schemeClr val="dk1"/>
              </a:buClr>
              <a:buSzPts val="1200"/>
              <a:buFont typeface="Roboto"/>
              <a:buChar char="●"/>
            </a:pPr>
            <a:r>
              <a:rPr lang="es" sz="1200">
                <a:solidFill>
                  <a:schemeClr val="dk1"/>
                </a:solidFill>
                <a:latin typeface="Roboto"/>
                <a:ea typeface="Roboto"/>
                <a:cs typeface="Roboto"/>
                <a:sym typeface="Roboto"/>
              </a:rPr>
              <a:t>Presionar “Iniciar sesión”.</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Resultado esperado: El sistema muestra la pantalla principal del usuario.</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Resultado real: La app muestra mensaje “Error inesperado” y no permite ingresar.</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Estado: ❌ Fallido → ver Bug #101</a:t>
            </a:r>
            <a:endParaRPr sz="1200">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7a91606289_0_5"/>
          <p:cNvSpPr txBox="1"/>
          <p:nvPr>
            <p:ph type="title"/>
          </p:nvPr>
        </p:nvSpPr>
        <p:spPr>
          <a:xfrm>
            <a:off x="213650" y="0"/>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Ejemplo de error Reporte Bug</a:t>
            </a:r>
            <a:endParaRPr/>
          </a:p>
        </p:txBody>
      </p:sp>
      <p:sp>
        <p:nvSpPr>
          <p:cNvPr id="130" name="Google Shape;130;g37a91606289_0_5"/>
          <p:cNvSpPr txBox="1"/>
          <p:nvPr/>
        </p:nvSpPr>
        <p:spPr>
          <a:xfrm>
            <a:off x="213650" y="816725"/>
            <a:ext cx="6948000" cy="42174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ID: Bug-101</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Título: Error inesperado al iniciar sesión con credenciales válidas.</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Severidad: Alta (bloquea ingreso de usuarios).</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Prioridad: Crítica (impide el uso básico del sistema).</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Pasos para reproducir:</a:t>
            </a:r>
            <a:endParaRPr sz="1200">
              <a:solidFill>
                <a:schemeClr val="dk1"/>
              </a:solidFill>
              <a:latin typeface="Roboto"/>
              <a:ea typeface="Roboto"/>
              <a:cs typeface="Roboto"/>
              <a:sym typeface="Roboto"/>
            </a:endParaRPr>
          </a:p>
          <a:p>
            <a:pPr indent="-304800" lvl="0" marL="457200" marR="0" rtl="0" algn="just">
              <a:lnSpc>
                <a:spcPct val="150000"/>
              </a:lnSpc>
              <a:spcBef>
                <a:spcPts val="1200"/>
              </a:spcBef>
              <a:spcAft>
                <a:spcPts val="0"/>
              </a:spcAft>
              <a:buClr>
                <a:schemeClr val="dk1"/>
              </a:buClr>
              <a:buSzPts val="1200"/>
              <a:buFont typeface="Roboto"/>
              <a:buChar char="●"/>
            </a:pPr>
            <a:r>
              <a:rPr lang="es" sz="1200">
                <a:solidFill>
                  <a:schemeClr val="dk1"/>
                </a:solidFill>
                <a:latin typeface="Roboto"/>
                <a:ea typeface="Roboto"/>
                <a:cs typeface="Roboto"/>
                <a:sym typeface="Roboto"/>
              </a:rPr>
              <a:t>Abrir la app.</a:t>
            </a:r>
            <a:endParaRPr sz="1200">
              <a:solidFill>
                <a:schemeClr val="dk1"/>
              </a:solidFill>
              <a:latin typeface="Roboto"/>
              <a:ea typeface="Roboto"/>
              <a:cs typeface="Roboto"/>
              <a:sym typeface="Roboto"/>
            </a:endParaRPr>
          </a:p>
          <a:p>
            <a:pPr indent="-304800" lvl="0" marL="457200" marR="0" rtl="0" algn="just">
              <a:lnSpc>
                <a:spcPct val="150000"/>
              </a:lnSpc>
              <a:spcBef>
                <a:spcPts val="0"/>
              </a:spcBef>
              <a:spcAft>
                <a:spcPts val="0"/>
              </a:spcAft>
              <a:buClr>
                <a:schemeClr val="dk1"/>
              </a:buClr>
              <a:buSzPts val="1200"/>
              <a:buFont typeface="Roboto"/>
              <a:buChar char="●"/>
            </a:pPr>
            <a:r>
              <a:rPr lang="es" sz="1200">
                <a:solidFill>
                  <a:schemeClr val="dk1"/>
                </a:solidFill>
                <a:latin typeface="Roboto"/>
                <a:ea typeface="Roboto"/>
                <a:cs typeface="Roboto"/>
                <a:sym typeface="Roboto"/>
              </a:rPr>
              <a:t>Usuario: juan@test.com.</a:t>
            </a:r>
            <a:endParaRPr sz="1200">
              <a:solidFill>
                <a:schemeClr val="dk1"/>
              </a:solidFill>
              <a:latin typeface="Roboto"/>
              <a:ea typeface="Roboto"/>
              <a:cs typeface="Roboto"/>
              <a:sym typeface="Roboto"/>
            </a:endParaRPr>
          </a:p>
          <a:p>
            <a:pPr indent="-304800" lvl="0" marL="457200" marR="0" rtl="0" algn="just">
              <a:lnSpc>
                <a:spcPct val="150000"/>
              </a:lnSpc>
              <a:spcBef>
                <a:spcPts val="0"/>
              </a:spcBef>
              <a:spcAft>
                <a:spcPts val="0"/>
              </a:spcAft>
              <a:buClr>
                <a:schemeClr val="dk1"/>
              </a:buClr>
              <a:buSzPts val="1200"/>
              <a:buFont typeface="Roboto"/>
              <a:buChar char="●"/>
            </a:pPr>
            <a:r>
              <a:rPr lang="es" sz="1200">
                <a:solidFill>
                  <a:schemeClr val="dk1"/>
                </a:solidFill>
                <a:latin typeface="Roboto"/>
                <a:ea typeface="Roboto"/>
                <a:cs typeface="Roboto"/>
                <a:sym typeface="Roboto"/>
              </a:rPr>
              <a:t>Contraseña: 123456.</a:t>
            </a:r>
            <a:endParaRPr sz="1200">
              <a:solidFill>
                <a:schemeClr val="dk1"/>
              </a:solidFill>
              <a:latin typeface="Roboto"/>
              <a:ea typeface="Roboto"/>
              <a:cs typeface="Roboto"/>
              <a:sym typeface="Roboto"/>
            </a:endParaRPr>
          </a:p>
          <a:p>
            <a:pPr indent="-304800" lvl="0" marL="457200" marR="0" rtl="0" algn="just">
              <a:lnSpc>
                <a:spcPct val="150000"/>
              </a:lnSpc>
              <a:spcBef>
                <a:spcPts val="0"/>
              </a:spcBef>
              <a:spcAft>
                <a:spcPts val="0"/>
              </a:spcAft>
              <a:buClr>
                <a:schemeClr val="dk1"/>
              </a:buClr>
              <a:buSzPts val="1200"/>
              <a:buFont typeface="Roboto"/>
              <a:buChar char="●"/>
            </a:pPr>
            <a:r>
              <a:rPr lang="es" sz="1200">
                <a:solidFill>
                  <a:schemeClr val="dk1"/>
                </a:solidFill>
                <a:latin typeface="Roboto"/>
                <a:ea typeface="Roboto"/>
                <a:cs typeface="Roboto"/>
                <a:sym typeface="Roboto"/>
              </a:rPr>
              <a:t>Clic en “Iniciar sesión”.</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Resultado real: Aparece mensaje “Error inesperado”.</a:t>
            </a:r>
            <a:endParaRPr sz="1200">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rgbClr val="000000"/>
              </a:buClr>
              <a:buSzPts val="1400"/>
              <a:buFont typeface="Arial"/>
              <a:buNone/>
            </a:pPr>
            <a:r>
              <a:rPr lang="es" sz="1200">
                <a:solidFill>
                  <a:schemeClr val="dk1"/>
                </a:solidFill>
                <a:latin typeface="Roboto"/>
                <a:ea typeface="Roboto"/>
                <a:cs typeface="Roboto"/>
                <a:sym typeface="Roboto"/>
              </a:rPr>
              <a:t>Resultado esperado: Ingreso correcto y carga de pantalla principal.</a:t>
            </a:r>
            <a:endParaRPr sz="12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
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Roboto Slab"/>
      <p:regular r:id="rId17"/>
      <p:bold r:id="rId18"/>
    </p:embeddedFont>
    <p:embeddedFont>
      <p:font typeface="Robot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3" roundtripDataSignature="AMtx7miuCI2Sh2o7Q8DOVgepVY45ZhRn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11" Type="http://schemas.openxmlformats.org/officeDocument/2006/relationships/slide" Target="slides/slide6.xml"/><Relationship Id="rId22" Type="http://schemas.openxmlformats.org/officeDocument/2006/relationships/font" Target="fonts/Roboto-boldItalic.fntdata"/><Relationship Id="rId10" Type="http://schemas.openxmlformats.org/officeDocument/2006/relationships/slide" Target="slides/slide5.xml"/><Relationship Id="rId21" Type="http://schemas.openxmlformats.org/officeDocument/2006/relationships/font" Target="fonts/Roboto-italic.fntdata"/><Relationship Id="rId13" Type="http://schemas.openxmlformats.org/officeDocument/2006/relationships/slide" Target="slides/slide8.xml"/><Relationship Id="rId12" Type="http://schemas.openxmlformats.org/officeDocument/2006/relationships/slide" Target="slides/slide7.xml"/><Relationship Id="rId23"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obotoSlab-regular.fntdata"/><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Roboto-regular.fntdata"/><Relationship Id="rId6" Type="http://schemas.openxmlformats.org/officeDocument/2006/relationships/slide" Target="slides/slide1.xml"/><Relationship Id="rId18" Type="http://schemas.openxmlformats.org/officeDocument/2006/relationships/font" Target="fonts/RobotoSlab-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2c48997997b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 name="Google Shape;67;g2c48997997b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1f7df07e45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g1f7df07e45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1f7df07e45e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 name="Google Shape;79;g1f7df07e45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1f7df07e45e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g1f7df07e45e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f7df07e45e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 name="Google Shape;91;g1f7df07e45e_0_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f7df07e45e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g1f7df07e45e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f7df07e45e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1f7df07e45e_0_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f7df07e45e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9" name="Google Shape;109;g1f7df07e45e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f7df07e45e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g1f7df07e45e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1f7df07e45e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g1f7df07e45e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4"/>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14"/>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14"/>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14"/>
          <p:cNvSpPr txBox="1"/>
          <p:nvPr>
            <p:ph type="ctrTitle"/>
          </p:nvPr>
        </p:nvSpPr>
        <p:spPr>
          <a:xfrm>
            <a:off x="1680302" y="1188925"/>
            <a:ext cx="5783400" cy="1457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000"/>
              <a:buNone/>
              <a:defRPr sz="4000"/>
            </a:lvl1pPr>
            <a:lvl2pPr lvl="1" algn="ctr">
              <a:lnSpc>
                <a:spcPct val="100000"/>
              </a:lnSpc>
              <a:spcBef>
                <a:spcPts val="0"/>
              </a:spcBef>
              <a:spcAft>
                <a:spcPts val="0"/>
              </a:spcAft>
              <a:buSzPts val="4000"/>
              <a:buNone/>
              <a:defRPr sz="4000"/>
            </a:lvl2pPr>
            <a:lvl3pPr lvl="2" algn="ctr">
              <a:lnSpc>
                <a:spcPct val="100000"/>
              </a:lnSpc>
              <a:spcBef>
                <a:spcPts val="0"/>
              </a:spcBef>
              <a:spcAft>
                <a:spcPts val="0"/>
              </a:spcAft>
              <a:buSzPts val="4000"/>
              <a:buNone/>
              <a:defRPr sz="4000"/>
            </a:lvl3pPr>
            <a:lvl4pPr lvl="3" algn="ctr">
              <a:lnSpc>
                <a:spcPct val="100000"/>
              </a:lnSpc>
              <a:spcBef>
                <a:spcPts val="0"/>
              </a:spcBef>
              <a:spcAft>
                <a:spcPts val="0"/>
              </a:spcAft>
              <a:buSzPts val="4000"/>
              <a:buNone/>
              <a:defRPr sz="4000"/>
            </a:lvl4pPr>
            <a:lvl5pPr lvl="4" algn="ctr">
              <a:lnSpc>
                <a:spcPct val="100000"/>
              </a:lnSpc>
              <a:spcBef>
                <a:spcPts val="0"/>
              </a:spcBef>
              <a:spcAft>
                <a:spcPts val="0"/>
              </a:spcAft>
              <a:buSzPts val="4000"/>
              <a:buNone/>
              <a:defRPr sz="4000"/>
            </a:lvl5pPr>
            <a:lvl6pPr lvl="5" algn="ctr">
              <a:lnSpc>
                <a:spcPct val="100000"/>
              </a:lnSpc>
              <a:spcBef>
                <a:spcPts val="0"/>
              </a:spcBef>
              <a:spcAft>
                <a:spcPts val="0"/>
              </a:spcAft>
              <a:buSzPts val="4000"/>
              <a:buNone/>
              <a:defRPr sz="4000"/>
            </a:lvl6pPr>
            <a:lvl7pPr lvl="6" algn="ctr">
              <a:lnSpc>
                <a:spcPct val="100000"/>
              </a:lnSpc>
              <a:spcBef>
                <a:spcPts val="0"/>
              </a:spcBef>
              <a:spcAft>
                <a:spcPts val="0"/>
              </a:spcAft>
              <a:buSzPts val="4000"/>
              <a:buNone/>
              <a:defRPr sz="4000"/>
            </a:lvl7pPr>
            <a:lvl8pPr lvl="7" algn="ctr">
              <a:lnSpc>
                <a:spcPct val="100000"/>
              </a:lnSpc>
              <a:spcBef>
                <a:spcPts val="0"/>
              </a:spcBef>
              <a:spcAft>
                <a:spcPts val="0"/>
              </a:spcAft>
              <a:buSzPts val="4000"/>
              <a:buNone/>
              <a:defRPr sz="4000"/>
            </a:lvl8pPr>
            <a:lvl9pPr lvl="8" algn="ctr">
              <a:lnSpc>
                <a:spcPct val="100000"/>
              </a:lnSpc>
              <a:spcBef>
                <a:spcPts val="0"/>
              </a:spcBef>
              <a:spcAft>
                <a:spcPts val="0"/>
              </a:spcAft>
              <a:buSzPts val="4000"/>
              <a:buNone/>
              <a:defRPr sz="4000"/>
            </a:lvl9pPr>
          </a:lstStyle>
          <a:p/>
        </p:txBody>
      </p:sp>
      <p:sp>
        <p:nvSpPr>
          <p:cNvPr id="14" name="Google Shape;14;p14"/>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cxnSp>
        <p:nvCxnSpPr>
          <p:cNvPr id="17" name="Google Shape;17;p1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15"/>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9" name="Google Shape;19;p15"/>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0" name="Google Shape;20;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1" name="Shape 21"/>
        <p:cNvGrpSpPr/>
        <p:nvPr/>
      </p:nvGrpSpPr>
      <p:grpSpPr>
        <a:xfrm>
          <a:off x="0" y="0"/>
          <a:ext cx="0" cy="0"/>
          <a:chOff x="0" y="0"/>
          <a:chExt cx="0" cy="0"/>
        </a:xfrm>
      </p:grpSpPr>
      <p:cxnSp>
        <p:nvCxnSpPr>
          <p:cNvPr id="22" name="Google Shape;22;p16"/>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23" name="Google Shape;23;p16"/>
          <p:cNvSpPr txBox="1"/>
          <p:nvPr>
            <p:ph type="title"/>
          </p:nvPr>
        </p:nvSpPr>
        <p:spPr>
          <a:xfrm>
            <a:off x="480750" y="1764950"/>
            <a:ext cx="8222100" cy="907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4" name="Google Shape;24;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17"/>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17"/>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8" name="Google Shape;28;p17"/>
          <p:cNvSpPr txBox="1"/>
          <p:nvPr>
            <p:ph idx="1" type="body"/>
          </p:nvPr>
        </p:nvSpPr>
        <p:spPr>
          <a:xfrm>
            <a:off x="3879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9" name="Google Shape;29;p17"/>
          <p:cNvSpPr txBox="1"/>
          <p:nvPr>
            <p:ph idx="2" type="body"/>
          </p:nvPr>
        </p:nvSpPr>
        <p:spPr>
          <a:xfrm>
            <a:off x="4756200" y="1489825"/>
            <a:ext cx="3999900" cy="3078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18"/>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3" name="Google Shape;33;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19"/>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19"/>
          <p:cNvSpPr txBox="1"/>
          <p:nvPr>
            <p:ph type="title"/>
          </p:nvPr>
        </p:nvSpPr>
        <p:spPr>
          <a:xfrm>
            <a:off x="3879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9"/>
          <p:cNvSpPr txBox="1"/>
          <p:nvPr>
            <p:ph idx="1" type="body"/>
          </p:nvPr>
        </p:nvSpPr>
        <p:spPr>
          <a:xfrm>
            <a:off x="387900" y="1594025"/>
            <a:ext cx="2808000" cy="26811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20"/>
          <p:cNvSpPr txBox="1"/>
          <p:nvPr>
            <p:ph type="title"/>
          </p:nvPr>
        </p:nvSpPr>
        <p:spPr>
          <a:xfrm>
            <a:off x="490250" y="526350"/>
            <a:ext cx="56187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21"/>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4" name="Google Shape;44;p21"/>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21"/>
          <p:cNvSpPr txBox="1"/>
          <p:nvPr>
            <p:ph type="title"/>
          </p:nvPr>
        </p:nvSpPr>
        <p:spPr>
          <a:xfrm>
            <a:off x="265500" y="1209075"/>
            <a:ext cx="4045200" cy="1506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3800"/>
              <a:buNone/>
              <a:defRPr sz="3800"/>
            </a:lvl1pPr>
            <a:lvl2pPr lvl="1" algn="ctr">
              <a:lnSpc>
                <a:spcPct val="100000"/>
              </a:lnSpc>
              <a:spcBef>
                <a:spcPts val="0"/>
              </a:spcBef>
              <a:spcAft>
                <a:spcPts val="0"/>
              </a:spcAft>
              <a:buSzPts val="3800"/>
              <a:buNone/>
              <a:defRPr sz="3800"/>
            </a:lvl2pPr>
            <a:lvl3pPr lvl="2" algn="ctr">
              <a:lnSpc>
                <a:spcPct val="100000"/>
              </a:lnSpc>
              <a:spcBef>
                <a:spcPts val="0"/>
              </a:spcBef>
              <a:spcAft>
                <a:spcPts val="0"/>
              </a:spcAft>
              <a:buSzPts val="3800"/>
              <a:buNone/>
              <a:defRPr sz="3800"/>
            </a:lvl3pPr>
            <a:lvl4pPr lvl="3" algn="ctr">
              <a:lnSpc>
                <a:spcPct val="100000"/>
              </a:lnSpc>
              <a:spcBef>
                <a:spcPts val="0"/>
              </a:spcBef>
              <a:spcAft>
                <a:spcPts val="0"/>
              </a:spcAft>
              <a:buSzPts val="3800"/>
              <a:buNone/>
              <a:defRPr sz="3800"/>
            </a:lvl4pPr>
            <a:lvl5pPr lvl="4" algn="ctr">
              <a:lnSpc>
                <a:spcPct val="100000"/>
              </a:lnSpc>
              <a:spcBef>
                <a:spcPts val="0"/>
              </a:spcBef>
              <a:spcAft>
                <a:spcPts val="0"/>
              </a:spcAft>
              <a:buSzPts val="3800"/>
              <a:buNone/>
              <a:defRPr sz="3800"/>
            </a:lvl5pPr>
            <a:lvl6pPr lvl="5" algn="ctr">
              <a:lnSpc>
                <a:spcPct val="100000"/>
              </a:lnSpc>
              <a:spcBef>
                <a:spcPts val="0"/>
              </a:spcBef>
              <a:spcAft>
                <a:spcPts val="0"/>
              </a:spcAft>
              <a:buSzPts val="3800"/>
              <a:buNone/>
              <a:defRPr sz="3800"/>
            </a:lvl6pPr>
            <a:lvl7pPr lvl="6" algn="ctr">
              <a:lnSpc>
                <a:spcPct val="100000"/>
              </a:lnSpc>
              <a:spcBef>
                <a:spcPts val="0"/>
              </a:spcBef>
              <a:spcAft>
                <a:spcPts val="0"/>
              </a:spcAft>
              <a:buSzPts val="3800"/>
              <a:buNone/>
              <a:defRPr sz="3800"/>
            </a:lvl7pPr>
            <a:lvl8pPr lvl="7" algn="ctr">
              <a:lnSpc>
                <a:spcPct val="100000"/>
              </a:lnSpc>
              <a:spcBef>
                <a:spcPts val="0"/>
              </a:spcBef>
              <a:spcAft>
                <a:spcPts val="0"/>
              </a:spcAft>
              <a:buSzPts val="3800"/>
              <a:buNone/>
              <a:defRPr sz="3800"/>
            </a:lvl8pPr>
            <a:lvl9pPr lvl="8" algn="ctr">
              <a:lnSpc>
                <a:spcPct val="100000"/>
              </a:lnSpc>
              <a:spcBef>
                <a:spcPts val="0"/>
              </a:spcBef>
              <a:spcAft>
                <a:spcPts val="0"/>
              </a:spcAft>
              <a:buSzPts val="3800"/>
              <a:buNone/>
              <a:defRPr sz="3800"/>
            </a:lvl9pPr>
          </a:lstStyle>
          <a:p/>
        </p:txBody>
      </p:sp>
      <p:sp>
        <p:nvSpPr>
          <p:cNvPr id="46" name="Google Shape;46;p21"/>
          <p:cNvSpPr txBox="1"/>
          <p:nvPr>
            <p:ph idx="1" type="subTitle"/>
          </p:nvPr>
        </p:nvSpPr>
        <p:spPr>
          <a:xfrm>
            <a:off x="265500" y="2769001"/>
            <a:ext cx="4045200" cy="13455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21"/>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8" name="Google Shape;48;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22"/>
          <p:cNvSpPr txBox="1"/>
          <p:nvPr>
            <p:ph idx="1" type="body"/>
          </p:nvPr>
        </p:nvSpPr>
        <p:spPr>
          <a:xfrm>
            <a:off x="319500" y="423372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23"/>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3"/>
          <p:cNvSpPr txBox="1"/>
          <p:nvPr>
            <p:ph hasCustomPrompt="1" type="title"/>
          </p:nvPr>
        </p:nvSpPr>
        <p:spPr>
          <a:xfrm>
            <a:off x="387900" y="1152450"/>
            <a:ext cx="8368200" cy="15384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5"/>
              </a:buClr>
              <a:buSzPts val="13000"/>
              <a:buNone/>
              <a:defRPr sz="13000">
                <a:solidFill>
                  <a:schemeClr val="accent5"/>
                </a:solidFill>
              </a:defRPr>
            </a:lvl1pPr>
            <a:lvl2pPr lvl="1" algn="ctr">
              <a:lnSpc>
                <a:spcPct val="100000"/>
              </a:lnSpc>
              <a:spcBef>
                <a:spcPts val="0"/>
              </a:spcBef>
              <a:spcAft>
                <a:spcPts val="0"/>
              </a:spcAft>
              <a:buClr>
                <a:schemeClr val="accent5"/>
              </a:buClr>
              <a:buSzPts val="13000"/>
              <a:buNone/>
              <a:defRPr sz="13000">
                <a:solidFill>
                  <a:schemeClr val="accent5"/>
                </a:solidFill>
              </a:defRPr>
            </a:lvl2pPr>
            <a:lvl3pPr lvl="2" algn="ctr">
              <a:lnSpc>
                <a:spcPct val="100000"/>
              </a:lnSpc>
              <a:spcBef>
                <a:spcPts val="0"/>
              </a:spcBef>
              <a:spcAft>
                <a:spcPts val="0"/>
              </a:spcAft>
              <a:buClr>
                <a:schemeClr val="accent5"/>
              </a:buClr>
              <a:buSzPts val="13000"/>
              <a:buNone/>
              <a:defRPr sz="13000">
                <a:solidFill>
                  <a:schemeClr val="accent5"/>
                </a:solidFill>
              </a:defRPr>
            </a:lvl3pPr>
            <a:lvl4pPr lvl="3" algn="ctr">
              <a:lnSpc>
                <a:spcPct val="100000"/>
              </a:lnSpc>
              <a:spcBef>
                <a:spcPts val="0"/>
              </a:spcBef>
              <a:spcAft>
                <a:spcPts val="0"/>
              </a:spcAft>
              <a:buClr>
                <a:schemeClr val="accent5"/>
              </a:buClr>
              <a:buSzPts val="13000"/>
              <a:buNone/>
              <a:defRPr sz="13000">
                <a:solidFill>
                  <a:schemeClr val="accent5"/>
                </a:solidFill>
              </a:defRPr>
            </a:lvl4pPr>
            <a:lvl5pPr lvl="4" algn="ctr">
              <a:lnSpc>
                <a:spcPct val="100000"/>
              </a:lnSpc>
              <a:spcBef>
                <a:spcPts val="0"/>
              </a:spcBef>
              <a:spcAft>
                <a:spcPts val="0"/>
              </a:spcAft>
              <a:buClr>
                <a:schemeClr val="accent5"/>
              </a:buClr>
              <a:buSzPts val="13000"/>
              <a:buNone/>
              <a:defRPr sz="13000">
                <a:solidFill>
                  <a:schemeClr val="accent5"/>
                </a:solidFill>
              </a:defRPr>
            </a:lvl5pPr>
            <a:lvl6pPr lvl="5" algn="ctr">
              <a:lnSpc>
                <a:spcPct val="100000"/>
              </a:lnSpc>
              <a:spcBef>
                <a:spcPts val="0"/>
              </a:spcBef>
              <a:spcAft>
                <a:spcPts val="0"/>
              </a:spcAft>
              <a:buClr>
                <a:schemeClr val="accent5"/>
              </a:buClr>
              <a:buSzPts val="13000"/>
              <a:buNone/>
              <a:defRPr sz="13000">
                <a:solidFill>
                  <a:schemeClr val="accent5"/>
                </a:solidFill>
              </a:defRPr>
            </a:lvl6pPr>
            <a:lvl7pPr lvl="6" algn="ctr">
              <a:lnSpc>
                <a:spcPct val="100000"/>
              </a:lnSpc>
              <a:spcBef>
                <a:spcPts val="0"/>
              </a:spcBef>
              <a:spcAft>
                <a:spcPts val="0"/>
              </a:spcAft>
              <a:buClr>
                <a:schemeClr val="accent5"/>
              </a:buClr>
              <a:buSzPts val="13000"/>
              <a:buNone/>
              <a:defRPr sz="13000">
                <a:solidFill>
                  <a:schemeClr val="accent5"/>
                </a:solidFill>
              </a:defRPr>
            </a:lvl7pPr>
            <a:lvl8pPr lvl="7" algn="ctr">
              <a:lnSpc>
                <a:spcPct val="100000"/>
              </a:lnSpc>
              <a:spcBef>
                <a:spcPts val="0"/>
              </a:spcBef>
              <a:spcAft>
                <a:spcPts val="0"/>
              </a:spcAft>
              <a:buClr>
                <a:schemeClr val="accent5"/>
              </a:buClr>
              <a:buSzPts val="13000"/>
              <a:buNone/>
              <a:defRPr sz="13000">
                <a:solidFill>
                  <a:schemeClr val="accent5"/>
                </a:solidFill>
              </a:defRPr>
            </a:lvl8pPr>
            <a:lvl9pPr lvl="8" algn="ctr">
              <a:lnSpc>
                <a:spcPct val="100000"/>
              </a:lnSpc>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23"/>
          <p:cNvSpPr txBox="1"/>
          <p:nvPr>
            <p:ph idx="1" type="body"/>
          </p:nvPr>
        </p:nvSpPr>
        <p:spPr>
          <a:xfrm>
            <a:off x="387900" y="2919450"/>
            <a:ext cx="8368200" cy="10716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6" name="Google Shape;56;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3"/>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1pPr>
            <a:lvl2pPr lvl="1"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2pPr>
            <a:lvl3pPr lvl="2"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3pPr>
            <a:lvl4pPr lvl="3"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4pPr>
            <a:lvl5pPr lvl="4"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5pPr>
            <a:lvl6pPr lvl="5"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6pPr>
            <a:lvl7pPr lvl="6"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7pPr>
            <a:lvl8pPr lvl="7"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8pPr>
            <a:lvl9pPr lvl="8" marR="0" rtl="0" algn="l">
              <a:lnSpc>
                <a:spcPct val="100000"/>
              </a:lnSpc>
              <a:spcBef>
                <a:spcPts val="0"/>
              </a:spcBef>
              <a:spcAft>
                <a:spcPts val="0"/>
              </a:spcAft>
              <a:buClr>
                <a:schemeClr val="dk1"/>
              </a:buClr>
              <a:buSzPts val="3000"/>
              <a:buFont typeface="Roboto Slab"/>
              <a:buNone/>
              <a:defRPr b="0" i="0" sz="3000" u="none" cap="none" strike="noStrike">
                <a:solidFill>
                  <a:schemeClr val="dk1"/>
                </a:solidFill>
                <a:latin typeface="Roboto Slab"/>
                <a:ea typeface="Roboto Slab"/>
                <a:cs typeface="Roboto Slab"/>
                <a:sym typeface="Roboto Slab"/>
              </a:defRPr>
            </a:lvl9pPr>
          </a:lstStyle>
          <a:p/>
        </p:txBody>
      </p:sp>
      <p:sp>
        <p:nvSpPr>
          <p:cNvPr id="7" name="Google Shape;7;p13"/>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1"/>
              </a:buClr>
              <a:buSzPts val="1800"/>
              <a:buFont typeface="Roboto"/>
              <a:buChar char="●"/>
              <a:defRPr b="0" i="0" sz="1800" u="none" cap="none" strike="noStrike">
                <a:solidFill>
                  <a:schemeClr val="dk1"/>
                </a:solidFill>
                <a:latin typeface="Roboto"/>
                <a:ea typeface="Roboto"/>
                <a:cs typeface="Roboto"/>
                <a:sym typeface="Roboto"/>
              </a:defRPr>
            </a:lvl1pPr>
            <a:lvl2pPr indent="-317500" lvl="1" marL="914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2pPr>
            <a:lvl3pPr indent="-317500" lvl="2" marL="1371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3pPr>
            <a:lvl4pPr indent="-317500" lvl="3" marL="1828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4pPr>
            <a:lvl5pPr indent="-317500" lvl="4" marL="22860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5pPr>
            <a:lvl6pPr indent="-317500" lvl="5" marL="27432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6pPr>
            <a:lvl7pPr indent="-317500" lvl="6" marL="32004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7pPr>
            <a:lvl8pPr indent="-317500" lvl="7" marL="36576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8pPr>
            <a:lvl9pPr indent="-317500" lvl="8" marL="4114800" marR="0" rtl="0" algn="l">
              <a:lnSpc>
                <a:spcPct val="115000"/>
              </a:lnSpc>
              <a:spcBef>
                <a:spcPts val="0"/>
              </a:spcBef>
              <a:spcAft>
                <a:spcPts val="0"/>
              </a:spcAft>
              <a:buClr>
                <a:schemeClr val="dk1"/>
              </a:buClr>
              <a:buSzPts val="1400"/>
              <a:buFont typeface="Roboto"/>
              <a:buChar char="■"/>
              <a:defRPr b="0" i="0" sz="1400" u="none" cap="none" strike="noStrike">
                <a:solidFill>
                  <a:schemeClr val="dk1"/>
                </a:solidFill>
                <a:latin typeface="Roboto"/>
                <a:ea typeface="Roboto"/>
                <a:cs typeface="Roboto"/>
                <a:sym typeface="Roboto"/>
              </a:defRPr>
            </a:lvl9pPr>
          </a:lstStyle>
          <a:p/>
        </p:txBody>
      </p:sp>
      <p:sp>
        <p:nvSpPr>
          <p:cNvPr id="8" name="Google Shape;8;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mc:Choice Requires="p14">
      <p:transition spd="slow" p14:dur="1900">
        <p14:gallery dir="l"/>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txBox="1"/>
          <p:nvPr>
            <p:ph type="ctrTitle"/>
          </p:nvPr>
        </p:nvSpPr>
        <p:spPr>
          <a:xfrm>
            <a:off x="768425" y="1188925"/>
            <a:ext cx="7609800" cy="14574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4000"/>
              <a:buNone/>
            </a:pPr>
            <a:r>
              <a:rPr lang="es"/>
              <a:t>Semana 5</a:t>
            </a:r>
            <a:endParaRPr/>
          </a:p>
        </p:txBody>
      </p:sp>
      <p:sp>
        <p:nvSpPr>
          <p:cNvPr id="64" name="Google Shape;64;p1"/>
          <p:cNvSpPr txBox="1"/>
          <p:nvPr>
            <p:ph idx="1" type="subTitle"/>
          </p:nvPr>
        </p:nvSpPr>
        <p:spPr>
          <a:xfrm>
            <a:off x="1680302" y="3049450"/>
            <a:ext cx="5783400" cy="9090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400"/>
              <a:buNone/>
            </a:pPr>
            <a:r>
              <a:rPr lang="es"/>
              <a:t>Prof. Kevin Del Bello</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2c48997997b_0_12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spcBef>
                <a:spcPts val="0"/>
              </a:spcBef>
              <a:spcAft>
                <a:spcPts val="0"/>
              </a:spcAft>
              <a:buSzPts val="3000"/>
              <a:buNone/>
            </a:pPr>
            <a:r>
              <a:rPr lang="es"/>
              <a:t>Métodos para corregir errores de código</a:t>
            </a:r>
            <a:endParaRPr/>
          </a:p>
        </p:txBody>
      </p:sp>
      <p:sp>
        <p:nvSpPr>
          <p:cNvPr id="70" name="Google Shape;70;g2c48997997b_0_124"/>
          <p:cNvSpPr txBox="1"/>
          <p:nvPr>
            <p:ph idx="1" type="body"/>
          </p:nvPr>
        </p:nvSpPr>
        <p:spPr>
          <a:xfrm>
            <a:off x="0" y="12863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Los 3 métodos de pruebas estáticas humanas son: </a:t>
            </a:r>
            <a:endParaRPr sz="4800"/>
          </a:p>
          <a:p>
            <a:pPr indent="-304800" lvl="0" marL="457200" rtl="0" algn="just">
              <a:lnSpc>
                <a:spcPct val="150000"/>
              </a:lnSpc>
              <a:spcBef>
                <a:spcPts val="1200"/>
              </a:spcBef>
              <a:spcAft>
                <a:spcPts val="0"/>
              </a:spcAft>
              <a:buSzPct val="100000"/>
              <a:buChar char="●"/>
            </a:pPr>
            <a:r>
              <a:rPr lang="es" sz="4800"/>
              <a:t>Inspecciones de código</a:t>
            </a:r>
            <a:endParaRPr sz="4800"/>
          </a:p>
          <a:p>
            <a:pPr indent="-304800" lvl="0" marL="457200" rtl="0" algn="just">
              <a:lnSpc>
                <a:spcPct val="150000"/>
              </a:lnSpc>
              <a:spcBef>
                <a:spcPts val="0"/>
              </a:spcBef>
              <a:spcAft>
                <a:spcPts val="0"/>
              </a:spcAft>
              <a:buSzPct val="100000"/>
              <a:buChar char="●"/>
            </a:pPr>
            <a:r>
              <a:rPr lang="es" sz="4800"/>
              <a:t>Walkthoughs </a:t>
            </a:r>
            <a:endParaRPr sz="4800"/>
          </a:p>
          <a:p>
            <a:pPr indent="-304800" lvl="0" marL="457200" rtl="0" algn="just">
              <a:lnSpc>
                <a:spcPct val="150000"/>
              </a:lnSpc>
              <a:spcBef>
                <a:spcPts val="0"/>
              </a:spcBef>
              <a:spcAft>
                <a:spcPts val="0"/>
              </a:spcAft>
              <a:buSzPct val="100000"/>
              <a:buChar char="●"/>
            </a:pPr>
            <a:r>
              <a:rPr lang="es" sz="4800"/>
              <a:t>Pruebas de escritorio</a:t>
            </a:r>
            <a:endParaRPr sz="4800"/>
          </a:p>
          <a:p>
            <a:pPr indent="0" lvl="0" marL="0" rtl="0" algn="just">
              <a:lnSpc>
                <a:spcPct val="150000"/>
              </a:lnSpc>
              <a:spcBef>
                <a:spcPts val="1200"/>
              </a:spcBef>
              <a:spcAft>
                <a:spcPts val="0"/>
              </a:spcAft>
              <a:buSzPct val="150000"/>
              <a:buNone/>
            </a:pPr>
            <a:r>
              <a:rPr lang="es" sz="4800"/>
              <a:t>Los tres métodos están orientados al código y pueden utilizarse en cualquier etapa de desarrollo de un software.</a:t>
            </a:r>
            <a:endParaRPr sz="4800"/>
          </a:p>
          <a:p>
            <a:pPr indent="0" lvl="0" marL="0" rtl="0" algn="just">
              <a:lnSpc>
                <a:spcPct val="150000"/>
              </a:lnSpc>
              <a:spcBef>
                <a:spcPts val="1200"/>
              </a:spcBef>
              <a:spcAft>
                <a:spcPts val="0"/>
              </a:spcAft>
              <a:buSzPct val="150000"/>
              <a:buNone/>
            </a:pPr>
            <a:r>
              <a:rPr lang="es" sz="4800"/>
              <a:t>¿En qué se parecen? Tanto el método de inspecciones y el método walkthough involucran un equipo de personas leyendo o inspeccionando visualmente un programa. Con ambos métodos, los/as participantes deben realizar trabajo previo para las reuniones. El punto cúlmine de ambos métodos es un “encuentro de mentes” en una reunión donde estén todos los involucrados. El objetivo de estas reuniones es encontrar errores, pero no encontrar las soluciones.</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g1f7df07e45e_0_5"/>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Métodos para corregir errores de código</a:t>
            </a:r>
            <a:endParaRPr/>
          </a:p>
        </p:txBody>
      </p:sp>
      <p:sp>
        <p:nvSpPr>
          <p:cNvPr id="76" name="Google Shape;76;g1f7df07e45e_0_5"/>
          <p:cNvSpPr txBox="1"/>
          <p:nvPr>
            <p:ph idx="1" type="body"/>
          </p:nvPr>
        </p:nvSpPr>
        <p:spPr>
          <a:xfrm>
            <a:off x="0" y="118917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En un </a:t>
            </a:r>
            <a:r>
              <a:rPr lang="es" sz="4800"/>
              <a:t>walkthrough</a:t>
            </a:r>
            <a:r>
              <a:rPr lang="es" sz="4800"/>
              <a:t> y una inspección:</a:t>
            </a:r>
            <a:endParaRPr sz="4800"/>
          </a:p>
          <a:p>
            <a:pPr indent="-304800" lvl="0" marL="457200" rtl="0" algn="just">
              <a:lnSpc>
                <a:spcPct val="150000"/>
              </a:lnSpc>
              <a:spcBef>
                <a:spcPts val="1200"/>
              </a:spcBef>
              <a:spcAft>
                <a:spcPts val="0"/>
              </a:spcAft>
              <a:buSzPct val="100000"/>
              <a:buChar char="●"/>
            </a:pPr>
            <a:r>
              <a:rPr lang="es" sz="4800"/>
              <a:t>un grupo de desarrolladores (entre 3 y 4 es un número óptimo) hacen la revisión. </a:t>
            </a:r>
            <a:endParaRPr sz="4800"/>
          </a:p>
          <a:p>
            <a:pPr indent="-304800" lvl="0" marL="457200" rtl="0" algn="just">
              <a:lnSpc>
                <a:spcPct val="150000"/>
              </a:lnSpc>
              <a:spcBef>
                <a:spcPts val="0"/>
              </a:spcBef>
              <a:spcAft>
                <a:spcPts val="0"/>
              </a:spcAft>
              <a:buSzPct val="100000"/>
              <a:buChar char="●"/>
            </a:pPr>
            <a:r>
              <a:rPr lang="es" sz="4800"/>
              <a:t>solo uno de los participantes es el autor del programa, por lo que la mayoría de los participantes de esta forma de testing no deben haber estado involucrados con el desarrollo.</a:t>
            </a:r>
            <a:endParaRPr sz="4800"/>
          </a:p>
          <a:p>
            <a:pPr indent="-304800" lvl="0" marL="457200" rtl="0" algn="just">
              <a:lnSpc>
                <a:spcPct val="150000"/>
              </a:lnSpc>
              <a:spcBef>
                <a:spcPts val="0"/>
              </a:spcBef>
              <a:spcAft>
                <a:spcPts val="0"/>
              </a:spcAft>
              <a:buSzPct val="100000"/>
              <a:buChar char="●"/>
            </a:pPr>
            <a:r>
              <a:rPr lang="es" sz="4800"/>
              <a:t>son mejoras a los procesos de pruebas de escritorios, ya que en ese método es un/a programador/a leyendo su propio código antes de probarlo. </a:t>
            </a:r>
            <a:endParaRPr sz="4800"/>
          </a:p>
          <a:p>
            <a:pPr indent="0" lvl="0" marL="0" rtl="0" algn="just">
              <a:lnSpc>
                <a:spcPct val="150000"/>
              </a:lnSpc>
              <a:spcBef>
                <a:spcPts val="1200"/>
              </a:spcBef>
              <a:spcAft>
                <a:spcPts val="0"/>
              </a:spcAft>
              <a:buSzPct val="150000"/>
              <a:buNone/>
            </a:pPr>
            <a:r>
              <a:rPr lang="es" sz="4800"/>
              <a:t>Cuando se encuentra un error se localiza precisamente en el código, a diferencia de las pruebas de caja negra donde sólo recibimos un resultado inesperado. Además, este proceso frecuentemente expone errores en masa, permitiendo que estos errores se corrijan también en masa después. En cambio, en las técnicas computarizadas o de caja negra solo exponen un síntoma del error. Estos errores son entonces detectados y corregidos de a uno. Los métodos de pruebas estáticas humanas generalmente son efectivos encontrando entre un 30 a un 70 por ciento de los errores de programación o de lógica hechos típicamente por los desarrolladores. Sin embargo, no son efectivos detectando errores de diseño de alto nivel, como los errores que se hacen en el análisis de requerimientos del proceso. Finalmente, a pesar que estos procesos manuales son invaluables para probar nuevos programas, son de igual o mayor valor al probar modificaciones a programas ya existentes. Modificar un programa existente es un proceso más dado a errores que escribir un programa nuevo totalmente desde cero.</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g1f7df07e45e_0_15"/>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Inspecciones de código</a:t>
            </a:r>
            <a:endParaRPr/>
          </a:p>
        </p:txBody>
      </p:sp>
      <p:sp>
        <p:nvSpPr>
          <p:cNvPr id="82" name="Google Shape;82;g1f7df07e45e_0_15"/>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Una inspección de código es un conjunto de procedimientos y técnicas de detección de errores para leer y realizar en grupo. La mayoría de las discusiones alrededor de esta técnica se enfocan en los procedimientos, formularios a llenar y otras formalidades. </a:t>
            </a:r>
            <a:endParaRPr sz="4800"/>
          </a:p>
          <a:p>
            <a:pPr indent="0" lvl="0" marL="0" rtl="0" algn="just">
              <a:lnSpc>
                <a:spcPct val="150000"/>
              </a:lnSpc>
              <a:spcBef>
                <a:spcPts val="1200"/>
              </a:spcBef>
              <a:spcAft>
                <a:spcPts val="0"/>
              </a:spcAft>
              <a:buNone/>
            </a:pPr>
            <a:r>
              <a:rPr lang="es" sz="4800"/>
              <a:t>Es importante notar que las inspecciones de código son un método formal, es decir que tiene varias formalidades involucradas y su resultado será un documento con todos los errores encontrados.</a:t>
            </a:r>
            <a:endParaRPr sz="4800"/>
          </a:p>
          <a:p>
            <a:pPr indent="0" lvl="0" marL="0" rtl="0" algn="just">
              <a:lnSpc>
                <a:spcPct val="150000"/>
              </a:lnSpc>
              <a:spcBef>
                <a:spcPts val="1200"/>
              </a:spcBef>
              <a:spcAft>
                <a:spcPts val="0"/>
              </a:spcAft>
              <a:buNone/>
            </a:pPr>
            <a:r>
              <a:rPr lang="es" sz="4800"/>
              <a:t>Miembros involucrados en la </a:t>
            </a:r>
            <a:r>
              <a:rPr lang="es" sz="4800"/>
              <a:t>inspección:</a:t>
            </a:r>
            <a:r>
              <a:rPr lang="es" sz="4800"/>
              <a:t> (</a:t>
            </a:r>
            <a:r>
              <a:rPr b="1" lang="es" sz="4800" u="sng"/>
              <a:t>en la medida de lo posible</a:t>
            </a:r>
            <a:r>
              <a:rPr lang="es" sz="4800"/>
              <a:t>)</a:t>
            </a:r>
            <a:endParaRPr sz="4800"/>
          </a:p>
          <a:p>
            <a:pPr indent="-304800" lvl="0" marL="457200" rtl="0" algn="just">
              <a:lnSpc>
                <a:spcPct val="150000"/>
              </a:lnSpc>
              <a:spcBef>
                <a:spcPts val="1200"/>
              </a:spcBef>
              <a:spcAft>
                <a:spcPts val="0"/>
              </a:spcAft>
              <a:buSzPct val="100000"/>
              <a:buChar char="●"/>
            </a:pPr>
            <a:r>
              <a:rPr lang="es" sz="4800"/>
              <a:t>Moderador</a:t>
            </a:r>
            <a:endParaRPr sz="4800"/>
          </a:p>
          <a:p>
            <a:pPr indent="-304800" lvl="0" marL="457200" rtl="0" algn="just">
              <a:lnSpc>
                <a:spcPct val="150000"/>
              </a:lnSpc>
              <a:spcBef>
                <a:spcPts val="0"/>
              </a:spcBef>
              <a:spcAft>
                <a:spcPts val="0"/>
              </a:spcAft>
              <a:buSzPct val="100000"/>
              <a:buChar char="●"/>
            </a:pPr>
            <a:r>
              <a:rPr lang="es" sz="4800"/>
              <a:t>Desarrollador</a:t>
            </a:r>
            <a:endParaRPr sz="4800"/>
          </a:p>
          <a:p>
            <a:pPr indent="-304800" lvl="0" marL="457200" rtl="0" algn="just">
              <a:lnSpc>
                <a:spcPct val="150000"/>
              </a:lnSpc>
              <a:spcBef>
                <a:spcPts val="0"/>
              </a:spcBef>
              <a:spcAft>
                <a:spcPts val="0"/>
              </a:spcAft>
              <a:buSzPct val="100000"/>
              <a:buChar char="●"/>
            </a:pPr>
            <a:r>
              <a:rPr lang="es" sz="4800"/>
              <a:t>Diseñador del programa</a:t>
            </a:r>
            <a:endParaRPr sz="4800"/>
          </a:p>
          <a:p>
            <a:pPr indent="-304800" lvl="0" marL="457200" rtl="0" algn="just">
              <a:lnSpc>
                <a:spcPct val="150000"/>
              </a:lnSpc>
              <a:spcBef>
                <a:spcPts val="0"/>
              </a:spcBef>
              <a:spcAft>
                <a:spcPts val="0"/>
              </a:spcAft>
              <a:buSzPct val="100000"/>
              <a:buChar char="●"/>
            </a:pPr>
            <a:r>
              <a:rPr lang="es" sz="4800"/>
              <a:t>Especialista de pruebas (testing)</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g1f7df07e45e_0_2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Inspecciones de código</a:t>
            </a:r>
            <a:endParaRPr/>
          </a:p>
        </p:txBody>
      </p:sp>
      <p:sp>
        <p:nvSpPr>
          <p:cNvPr id="88" name="Google Shape;88;g1f7df07e45e_0_21"/>
          <p:cNvSpPr txBox="1"/>
          <p:nvPr>
            <p:ph idx="1" type="body"/>
          </p:nvPr>
        </p:nvSpPr>
        <p:spPr>
          <a:xfrm>
            <a:off x="62275" y="1570450"/>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El moderador guía la sesión, asegurando que se mantenga enfocada en la búsqueda de errores y no en su corrección. Cualquier error identificado se corregirá posteriormente por el programador.</a:t>
            </a:r>
            <a:endParaRPr sz="4800"/>
          </a:p>
          <a:p>
            <a:pPr indent="0" lvl="0" marL="0" rtl="0" algn="just">
              <a:lnSpc>
                <a:spcPct val="150000"/>
              </a:lnSpc>
              <a:spcBef>
                <a:spcPts val="1200"/>
              </a:spcBef>
              <a:spcAft>
                <a:spcPts val="0"/>
              </a:spcAft>
              <a:buNone/>
            </a:pPr>
            <a:r>
              <a:rPr b="1" lang="es" sz="4800"/>
              <a:t>Narración del programa</a:t>
            </a:r>
            <a:r>
              <a:rPr lang="es" sz="4800"/>
              <a:t>: El programador presenta el código, explicando su lógica línea por línea. Los participantes pueden plantear preguntas y dudas durante esta narración. El objetivo es identificar posibles errores y aclararlos en tiempo real. A menudo, el propio programador identifica la mayoría de los errores durante esta etapa.</a:t>
            </a:r>
            <a:endParaRPr sz="4800"/>
          </a:p>
          <a:p>
            <a:pPr indent="0" lvl="0" marL="0" rtl="0" algn="just">
              <a:lnSpc>
                <a:spcPct val="150000"/>
              </a:lnSpc>
              <a:spcBef>
                <a:spcPts val="1200"/>
              </a:spcBef>
              <a:spcAft>
                <a:spcPts val="0"/>
              </a:spcAft>
              <a:buNone/>
            </a:pPr>
            <a:r>
              <a:rPr b="1" lang="es" sz="4800"/>
              <a:t>Revisión con un checklist</a:t>
            </a:r>
            <a:r>
              <a:rPr lang="es" sz="4800"/>
              <a:t>: El programa es sometido a una revisión utilizando un checklist que aborda errores comunes de programación. Esta lista será discutida en detalle en futuras sesiones.</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g1f7df07e45e_0_28"/>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Inspecciones de código</a:t>
            </a:r>
            <a:endParaRPr/>
          </a:p>
        </p:txBody>
      </p:sp>
      <p:sp>
        <p:nvSpPr>
          <p:cNvPr id="94" name="Google Shape;94;g1f7df07e45e_0_28"/>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b="1" lang="es" sz="4800"/>
              <a:t>Después de la sesión</a:t>
            </a:r>
            <a:r>
              <a:rPr lang="es" sz="4800"/>
              <a:t>:</a:t>
            </a:r>
            <a:endParaRPr sz="4800"/>
          </a:p>
          <a:p>
            <a:pPr indent="0" lvl="0" marL="0" rtl="0" algn="just">
              <a:lnSpc>
                <a:spcPct val="150000"/>
              </a:lnSpc>
              <a:spcBef>
                <a:spcPts val="1200"/>
              </a:spcBef>
              <a:spcAft>
                <a:spcPts val="0"/>
              </a:spcAft>
              <a:buNone/>
            </a:pPr>
            <a:r>
              <a:rPr lang="es" sz="4800"/>
              <a:t>Una vez finalizada la inspección, el programador recibe una lista de errores detectados. Si se encuentran muchos errores o correcciones complejas, se puede programar otra sesión de inspección para verificar las correcciones.</a:t>
            </a:r>
            <a:endParaRPr sz="4800"/>
          </a:p>
          <a:p>
            <a:pPr indent="0" lvl="0" marL="0" rtl="0" algn="just">
              <a:lnSpc>
                <a:spcPct val="150000"/>
              </a:lnSpc>
              <a:spcBef>
                <a:spcPts val="1200"/>
              </a:spcBef>
              <a:spcAft>
                <a:spcPts val="0"/>
              </a:spcAft>
              <a:buNone/>
            </a:pPr>
            <a:r>
              <a:rPr lang="es" sz="4800"/>
              <a:t>La lista de errores es analizada y categorizada según el checklist, lo que ayuda a refinar futuras inspecciones.</a:t>
            </a:r>
            <a:endParaRPr sz="4800"/>
          </a:p>
          <a:p>
            <a:pPr indent="0" lvl="0" marL="0" rtl="0" algn="just">
              <a:lnSpc>
                <a:spcPct val="150000"/>
              </a:lnSpc>
              <a:spcBef>
                <a:spcPts val="1200"/>
              </a:spcBef>
              <a:spcAft>
                <a:spcPts val="0"/>
              </a:spcAft>
              <a:buNone/>
            </a:pPr>
            <a:r>
              <a:rPr b="1" lang="es" sz="4800"/>
              <a:t>Duración de la sesión</a:t>
            </a:r>
            <a:r>
              <a:rPr lang="es" sz="4800"/>
              <a:t>: </a:t>
            </a:r>
            <a:endParaRPr sz="4800"/>
          </a:p>
          <a:p>
            <a:pPr indent="0" lvl="0" marL="0" rtl="0" algn="just">
              <a:lnSpc>
                <a:spcPct val="150000"/>
              </a:lnSpc>
              <a:spcBef>
                <a:spcPts val="1200"/>
              </a:spcBef>
              <a:spcAft>
                <a:spcPts val="0"/>
              </a:spcAft>
              <a:buNone/>
            </a:pPr>
            <a:r>
              <a:rPr lang="es" sz="4800"/>
              <a:t>La inspección requiere un ambiente sin interrupciones externas. La duración óptima de una sesión es de 90 a 120 minutos, ya que es mentalmente exigente. Las sesiones más largas suelen ser menos productivas debido a la fatiga. La velocidad de revisión es de aproximadamente 150 líneas por hora.</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1f7df07e45e_0_34"/>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s"/>
              <a:t>Las i</a:t>
            </a:r>
            <a:r>
              <a:rPr lang="es"/>
              <a:t>nspecciones de código son efectivas cuando…</a:t>
            </a:r>
            <a:endParaRPr/>
          </a:p>
        </p:txBody>
      </p:sp>
      <p:sp>
        <p:nvSpPr>
          <p:cNvPr id="100" name="Google Shape;100;g1f7df07e45e_0_34"/>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El proceso de inspecciones tiene varios beneficios secundarios además del objetivo principal de encontrar errores. </a:t>
            </a:r>
            <a:endParaRPr sz="4800"/>
          </a:p>
          <a:p>
            <a:pPr indent="0" lvl="0" marL="0" rtl="0" algn="just">
              <a:lnSpc>
                <a:spcPct val="150000"/>
              </a:lnSpc>
              <a:spcBef>
                <a:spcPts val="1200"/>
              </a:spcBef>
              <a:spcAft>
                <a:spcPts val="0"/>
              </a:spcAft>
              <a:buNone/>
            </a:pPr>
            <a:r>
              <a:rPr lang="es" sz="4800"/>
              <a:t>En primer lugar, el/la programador/a suele recibir retroalimentación muy positiva respecto a su estilo de programación, elección de algoritmos y técnicas de programación. Los/as otros/as participantes van mimetizando sus estilos de trabajo al ser expuestos a los algoritmos de otros programadores y sus errores. </a:t>
            </a:r>
            <a:endParaRPr sz="4800"/>
          </a:p>
          <a:p>
            <a:pPr indent="0" lvl="0" marL="0" rtl="0" algn="just">
              <a:lnSpc>
                <a:spcPct val="150000"/>
              </a:lnSpc>
              <a:spcBef>
                <a:spcPts val="1200"/>
              </a:spcBef>
              <a:spcAft>
                <a:spcPts val="0"/>
              </a:spcAft>
              <a:buNone/>
            </a:pPr>
            <a:r>
              <a:rPr lang="es" sz="4800"/>
              <a:t>En segundo lugar, el proceso de inspección es una buena forma de identificar de manera temprana las secciones del programa más propensas a errores; ayudando a enfocar la atención de forma directa en estas secciones durante el análisis con métodos automáticos.</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1f7df07e45e_0_41"/>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Checklist de errores</a:t>
            </a:r>
            <a:endParaRPr/>
          </a:p>
        </p:txBody>
      </p:sp>
      <p:sp>
        <p:nvSpPr>
          <p:cNvPr id="106" name="Google Shape;106;g1f7df07e45e_0_41"/>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Una parte importante del proceso de inspecciones es utilizar el checklist para examinar el programa buscando errores comunes. </a:t>
            </a:r>
            <a:endParaRPr sz="4800"/>
          </a:p>
          <a:p>
            <a:pPr indent="0" lvl="0" marL="0" rtl="0" algn="just">
              <a:lnSpc>
                <a:spcPct val="150000"/>
              </a:lnSpc>
              <a:spcBef>
                <a:spcPts val="1200"/>
              </a:spcBef>
              <a:spcAft>
                <a:spcPts val="0"/>
              </a:spcAft>
              <a:buNone/>
            </a:pPr>
            <a:r>
              <a:rPr lang="es" sz="4800"/>
              <a:t>Pero… algunos checklist pueden incluir elementos que no se enfocan en la detección de errores específicos en el código. Un estilo de checklist con elementos incorrectos enfocados en cuestiones de estilo y sin abordar errores podrían ser: </a:t>
            </a:r>
            <a:endParaRPr sz="4800"/>
          </a:p>
          <a:p>
            <a:pPr indent="-304800" lvl="0" marL="457200" rtl="0" algn="just">
              <a:lnSpc>
                <a:spcPct val="150000"/>
              </a:lnSpc>
              <a:spcBef>
                <a:spcPts val="1200"/>
              </a:spcBef>
              <a:spcAft>
                <a:spcPts val="0"/>
              </a:spcAft>
              <a:buSzPct val="100000"/>
              <a:buChar char="★"/>
            </a:pPr>
            <a:r>
              <a:rPr lang="es" sz="4800"/>
              <a:t>¿Los comentarios son precisos y significativos?</a:t>
            </a:r>
            <a:endParaRPr sz="4800"/>
          </a:p>
          <a:p>
            <a:pPr indent="-304800" lvl="0" marL="457200" rtl="0" algn="just">
              <a:lnSpc>
                <a:spcPct val="150000"/>
              </a:lnSpc>
              <a:spcBef>
                <a:spcPts val="0"/>
              </a:spcBef>
              <a:spcAft>
                <a:spcPts val="0"/>
              </a:spcAft>
              <a:buSzPct val="100000"/>
              <a:buChar char="★"/>
            </a:pPr>
            <a:r>
              <a:rPr lang="es" sz="4800"/>
              <a:t>¿Están los bloques de código alineados adecuadamente?</a:t>
            </a:r>
            <a:endParaRPr sz="4800"/>
          </a:p>
          <a:p>
            <a:pPr indent="-304800" lvl="0" marL="457200" rtl="0" algn="just">
              <a:lnSpc>
                <a:spcPct val="150000"/>
              </a:lnSpc>
              <a:spcBef>
                <a:spcPts val="0"/>
              </a:spcBef>
              <a:spcAft>
                <a:spcPts val="0"/>
              </a:spcAft>
              <a:buSzPct val="100000"/>
              <a:buChar char="★"/>
            </a:pPr>
            <a:r>
              <a:rPr lang="es" sz="4800"/>
              <a:t>¿El código cumple con los requerimientos y especificaciones de diseño?</a:t>
            </a:r>
            <a:endParaRPr sz="4800"/>
          </a:p>
          <a:p>
            <a:pPr indent="-304800" lvl="0" marL="457200" rtl="0" algn="just">
              <a:lnSpc>
                <a:spcPct val="150000"/>
              </a:lnSpc>
              <a:spcBef>
                <a:spcPts val="0"/>
              </a:spcBef>
              <a:spcAft>
                <a:spcPts val="0"/>
              </a:spcAft>
              <a:buSzPct val="100000"/>
              <a:buChar char="★"/>
            </a:pPr>
            <a:r>
              <a:rPr lang="es" sz="4800"/>
              <a:t>¿Las variabl</a:t>
            </a:r>
            <a:r>
              <a:rPr lang="es" sz="4800"/>
              <a:t>es tienen nombres descriptivos?</a:t>
            </a:r>
            <a:endParaRPr sz="4800"/>
          </a:p>
          <a:p>
            <a:pPr indent="-304800" lvl="0" marL="457200" rtl="0" algn="just">
              <a:lnSpc>
                <a:spcPct val="150000"/>
              </a:lnSpc>
              <a:spcBef>
                <a:spcPts val="0"/>
              </a:spcBef>
              <a:spcAft>
                <a:spcPts val="0"/>
              </a:spcAft>
              <a:buSzPct val="100000"/>
              <a:buChar char="★"/>
            </a:pPr>
            <a:r>
              <a:rPr lang="es" sz="4800"/>
              <a:t>¿Se siguen las convenciones de estilo de codificación?</a:t>
            </a:r>
            <a:endParaRPr sz="4800"/>
          </a:p>
          <a:p>
            <a:pPr indent="0" lvl="0" marL="0" rtl="0" algn="just">
              <a:lnSpc>
                <a:spcPct val="150000"/>
              </a:lnSpc>
              <a:spcBef>
                <a:spcPts val="1200"/>
              </a:spcBef>
              <a:spcAft>
                <a:spcPts val="0"/>
              </a:spcAft>
              <a:buNone/>
            </a:pPr>
            <a:r>
              <a:rPr lang="es" sz="4800"/>
              <a:t>Estos elementos no están diseñados para identificar errores específicos, sino más bien para abordar cuestiones de estilo y buenas prácticas de codificación.</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g1f7df07e45e_0_47"/>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Walkthroughs</a:t>
            </a:r>
            <a:endParaRPr/>
          </a:p>
        </p:txBody>
      </p:sp>
      <p:sp>
        <p:nvSpPr>
          <p:cNvPr id="112" name="Google Shape;112;g1f7df07e45e_0_47"/>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El objetivo principal de los walkthroughs con el código es comprender cómo funciona el código en su conjunto, explorando su estructura, lógica y flujo de ejecución. Se centran en la comprensión global del código y en identificar oportunidades de mejora en el diseño y la arquitectura y no tanto en los errores muy precisos, malas prácticas de programación o posibles vulnerabilidades de seguridad. En definitiva, son algo más generales.</a:t>
            </a:r>
            <a:endParaRPr sz="4800"/>
          </a:p>
          <a:p>
            <a:pPr indent="0" lvl="0" marL="0" rtl="0" algn="just">
              <a:lnSpc>
                <a:spcPct val="150000"/>
              </a:lnSpc>
              <a:spcBef>
                <a:spcPts val="1200"/>
              </a:spcBef>
              <a:spcAft>
                <a:spcPts val="0"/>
              </a:spcAft>
              <a:buNone/>
            </a:pPr>
            <a:r>
              <a:rPr lang="es" sz="4800"/>
              <a:t>Al igual que en las inspecciones, la actitud de los participantes es crítica.</a:t>
            </a:r>
            <a:endParaRPr sz="4800"/>
          </a:p>
          <a:p>
            <a:pPr indent="0" lvl="0" marL="0" rtl="0" algn="just">
              <a:lnSpc>
                <a:spcPct val="150000"/>
              </a:lnSpc>
              <a:spcBef>
                <a:spcPts val="1200"/>
              </a:spcBef>
              <a:spcAft>
                <a:spcPts val="0"/>
              </a:spcAft>
              <a:buNone/>
            </a:pPr>
            <a:r>
              <a:rPr lang="es" sz="4800"/>
              <a:t>Los comentarios deben estar dirigidos al programa y no al programador. En otras palabras, los errores no se consideran como debilidades de la persona que los cometió, se ven como algo inherente a la dificultad de programar software. Hay que ser duros con el error, pero suaves con la persona.</a:t>
            </a:r>
            <a:endParaRPr sz="4800"/>
          </a:p>
          <a:p>
            <a:pPr indent="0" lvl="0" marL="0" rtl="0" algn="just">
              <a:lnSpc>
                <a:spcPct val="150000"/>
              </a:lnSpc>
              <a:spcBef>
                <a:spcPts val="1200"/>
              </a:spcBef>
              <a:spcAft>
                <a:spcPts val="0"/>
              </a:spcAft>
              <a:buNone/>
            </a:pPr>
            <a:r>
              <a:rPr lang="es" sz="4800"/>
              <a:t>En el walkthrough debemos tener un proceso de seguimiento similar al descrito por las inspecciones. Observamos en esta técnica efectos secundarios muy similares a los de las inspecciones también:</a:t>
            </a:r>
            <a:endParaRPr sz="4800"/>
          </a:p>
          <a:p>
            <a:pPr indent="-304800" lvl="0" marL="457200" rtl="0" algn="just">
              <a:lnSpc>
                <a:spcPct val="150000"/>
              </a:lnSpc>
              <a:spcBef>
                <a:spcPts val="1200"/>
              </a:spcBef>
              <a:spcAft>
                <a:spcPts val="0"/>
              </a:spcAft>
              <a:buSzPct val="100000"/>
              <a:buChar char="●"/>
            </a:pPr>
            <a:r>
              <a:rPr lang="es" sz="4800"/>
              <a:t>identificación de secciones propensas a errores, </a:t>
            </a:r>
            <a:endParaRPr sz="4800"/>
          </a:p>
          <a:p>
            <a:pPr indent="-304800" lvl="0" marL="457200" rtl="0" algn="just">
              <a:lnSpc>
                <a:spcPct val="150000"/>
              </a:lnSpc>
              <a:spcBef>
                <a:spcPts val="0"/>
              </a:spcBef>
              <a:spcAft>
                <a:spcPts val="0"/>
              </a:spcAft>
              <a:buSzPct val="100000"/>
              <a:buChar char="●"/>
            </a:pPr>
            <a:r>
              <a:rPr lang="es" sz="4800"/>
              <a:t>educación en errores,</a:t>
            </a:r>
            <a:endParaRPr sz="4800"/>
          </a:p>
          <a:p>
            <a:pPr indent="-304800" lvl="0" marL="457200" rtl="0" algn="just">
              <a:lnSpc>
                <a:spcPct val="150000"/>
              </a:lnSpc>
              <a:spcBef>
                <a:spcPts val="0"/>
              </a:spcBef>
              <a:spcAft>
                <a:spcPts val="0"/>
              </a:spcAft>
              <a:buSzPct val="100000"/>
              <a:buChar char="●"/>
            </a:pPr>
            <a:r>
              <a:rPr lang="es" sz="4800"/>
              <a:t>educación en técnicas de programación y </a:t>
            </a:r>
            <a:r>
              <a:rPr lang="es" sz="4800"/>
              <a:t> educación en estilo de programación.</a:t>
            </a:r>
            <a:endParaRPr sz="4800"/>
          </a:p>
          <a:p>
            <a:pPr indent="-304800" lvl="0" marL="457200" rtl="0" algn="just">
              <a:lnSpc>
                <a:spcPct val="150000"/>
              </a:lnSpc>
              <a:spcBef>
                <a:spcPts val="0"/>
              </a:spcBef>
              <a:spcAft>
                <a:spcPts val="0"/>
              </a:spcAft>
              <a:buSzPct val="100000"/>
              <a:buChar char="●"/>
            </a:pPr>
            <a:r>
              <a:t/>
            </a:r>
            <a:endParaRPr sz="4800"/>
          </a:p>
          <a:p>
            <a:pPr indent="-304800" lvl="0" marL="457200" rtl="0" algn="just">
              <a:lnSpc>
                <a:spcPct val="150000"/>
              </a:lnSpc>
              <a:spcBef>
                <a:spcPts val="0"/>
              </a:spcBef>
              <a:spcAft>
                <a:spcPts val="0"/>
              </a:spcAft>
              <a:buSzPct val="100000"/>
              <a:buChar char="●"/>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1f7df07e45e_0_56"/>
          <p:cNvSpPr txBox="1"/>
          <p:nvPr>
            <p:ph type="title"/>
          </p:nvPr>
        </p:nvSpPr>
        <p:spPr>
          <a:xfrm>
            <a:off x="417825" y="0"/>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Cuadro de diferencias</a:t>
            </a:r>
            <a:endParaRPr/>
          </a:p>
        </p:txBody>
      </p:sp>
      <p:sp>
        <p:nvSpPr>
          <p:cNvPr id="118" name="Google Shape;118;g1f7df07e45e_0_56"/>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119" name="Google Shape;119;g1f7df07e45e_0_56"/>
          <p:cNvPicPr preferRelativeResize="0"/>
          <p:nvPr/>
        </p:nvPicPr>
        <p:blipFill>
          <a:blip r:embed="rId3">
            <a:alphaModFix/>
          </a:blip>
          <a:stretch>
            <a:fillRect/>
          </a:stretch>
        </p:blipFill>
        <p:spPr>
          <a:xfrm>
            <a:off x="417827" y="799800"/>
            <a:ext cx="7400576" cy="42397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1f7df07e45e_0_62"/>
          <p:cNvSpPr txBox="1"/>
          <p:nvPr>
            <p:ph type="title"/>
          </p:nvPr>
        </p:nvSpPr>
        <p:spPr>
          <a:xfrm>
            <a:off x="387900" y="261875"/>
            <a:ext cx="8368200" cy="686100"/>
          </a:xfrm>
          <a:prstGeom prst="rect">
            <a:avLst/>
          </a:prstGeom>
          <a:noFill/>
          <a:ln>
            <a:noFill/>
          </a:ln>
        </p:spPr>
        <p:txBody>
          <a:bodyPr anchorCtr="0" anchor="b" bIns="91425" lIns="91425" spcFirstLastPara="1" rIns="91425" wrap="square" tIns="91425">
            <a:normAutofit/>
          </a:bodyPr>
          <a:lstStyle/>
          <a:p>
            <a:pPr indent="0" lvl="0" marL="0" rtl="0" algn="l">
              <a:lnSpc>
                <a:spcPct val="100000"/>
              </a:lnSpc>
              <a:spcBef>
                <a:spcPts val="0"/>
              </a:spcBef>
              <a:spcAft>
                <a:spcPts val="0"/>
              </a:spcAft>
              <a:buSzPts val="3000"/>
              <a:buNone/>
            </a:pPr>
            <a:r>
              <a:rPr lang="es"/>
              <a:t>Pruebas de escritorio</a:t>
            </a:r>
            <a:endParaRPr/>
          </a:p>
        </p:txBody>
      </p:sp>
      <p:sp>
        <p:nvSpPr>
          <p:cNvPr id="125" name="Google Shape;125;g1f7df07e45e_0_62"/>
          <p:cNvSpPr txBox="1"/>
          <p:nvPr>
            <p:ph idx="1" type="body"/>
          </p:nvPr>
        </p:nvSpPr>
        <p:spPr>
          <a:xfrm>
            <a:off x="0" y="1323725"/>
            <a:ext cx="8634000" cy="3715800"/>
          </a:xfrm>
          <a:prstGeom prst="rect">
            <a:avLst/>
          </a:prstGeom>
          <a:noFill/>
          <a:ln>
            <a:noFill/>
          </a:ln>
        </p:spPr>
        <p:txBody>
          <a:bodyPr anchorCtr="0" anchor="t" bIns="91425" lIns="91425" spcFirstLastPara="1" rIns="91425" wrap="square" tIns="91425">
            <a:normAutofit fontScale="25000" lnSpcReduction="20000"/>
          </a:bodyPr>
          <a:lstStyle/>
          <a:p>
            <a:pPr indent="0" lvl="0" marL="0" rtl="0" algn="just">
              <a:lnSpc>
                <a:spcPct val="150000"/>
              </a:lnSpc>
              <a:spcBef>
                <a:spcPts val="1200"/>
              </a:spcBef>
              <a:spcAft>
                <a:spcPts val="0"/>
              </a:spcAft>
              <a:buNone/>
            </a:pPr>
            <a:r>
              <a:rPr lang="es" sz="4800"/>
              <a:t>El método, también humano denominado prueba de escritorio coincide con los métodos de inspección o de walkthrough  por la búsqueda de detectar errores, pero el método 3 es realizado por una sola persona y no por un equipo. Además, es una de las prácticas </a:t>
            </a:r>
            <a:r>
              <a:rPr lang="es" sz="4800"/>
              <a:t>más</a:t>
            </a:r>
            <a:r>
              <a:rPr lang="es" sz="4800"/>
              <a:t> antiguas de análisis de código El procedimiento es:</a:t>
            </a:r>
            <a:endParaRPr sz="4800"/>
          </a:p>
          <a:p>
            <a:pPr indent="0" lvl="0" marL="0" rtl="0" algn="just">
              <a:lnSpc>
                <a:spcPct val="150000"/>
              </a:lnSpc>
              <a:spcBef>
                <a:spcPts val="1200"/>
              </a:spcBef>
              <a:spcAft>
                <a:spcPts val="0"/>
              </a:spcAft>
              <a:buNone/>
            </a:pPr>
            <a:r>
              <a:rPr lang="es" sz="4800"/>
              <a:t>Una persona lee el programa y lo somete a una revisión individual, utilizando una lista de posibles errores y realizando pruebas mentales. Esto nos recuerda a la actividad de pruebas de escritorio que realizamos en la semana 1.</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50000"/>
              <a:buNone/>
            </a:pPr>
            <a:r>
              <a:t/>
            </a:r>
            <a:endParaRPr sz="4800"/>
          </a:p>
          <a:p>
            <a:pPr indent="0" lvl="0" marL="0" rtl="0" algn="just">
              <a:lnSpc>
                <a:spcPct val="150000"/>
              </a:lnSpc>
              <a:spcBef>
                <a:spcPts val="1200"/>
              </a:spcBef>
              <a:spcAft>
                <a:spcPts val="0"/>
              </a:spcAft>
              <a:buSzPct val="149999"/>
              <a:buNone/>
            </a:pPr>
            <a:r>
              <a:t/>
            </a:r>
            <a:endParaRPr sz="48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378945"/>
              <a:buNone/>
            </a:pPr>
            <a:r>
              <a:t/>
            </a:r>
            <a:endParaRPr sz="1900"/>
          </a:p>
          <a:p>
            <a:pPr indent="0" lvl="0" marL="0" rtl="0" algn="just">
              <a:lnSpc>
                <a:spcPct val="150000"/>
              </a:lnSpc>
              <a:spcBef>
                <a:spcPts val="1200"/>
              </a:spcBef>
              <a:spcAft>
                <a:spcPts val="0"/>
              </a:spcAft>
              <a:buSzPct val="100000"/>
              <a:buNone/>
            </a:pPr>
            <a:r>
              <a:t/>
            </a:r>
            <a:endParaRPr sz="7200"/>
          </a:p>
          <a:p>
            <a:pPr indent="0" lvl="0" marL="0" rtl="0" algn="just">
              <a:lnSpc>
                <a:spcPct val="150000"/>
              </a:lnSpc>
              <a:spcBef>
                <a:spcPts val="1200"/>
              </a:spcBef>
              <a:spcAft>
                <a:spcPts val="0"/>
              </a:spcAft>
              <a:buSzPct val="100000"/>
              <a:buNone/>
            </a:pPr>
            <a:r>
              <a:t/>
            </a:r>
            <a:endParaRPr sz="7200"/>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0"/>
              </a:spcAft>
              <a:buSzPts val="1800"/>
              <a:buNone/>
            </a:pPr>
            <a:r>
              <a:t/>
            </a:r>
            <a:endParaRPr/>
          </a:p>
          <a:p>
            <a:pPr indent="360000" lvl="0" marL="0" rtl="0" algn="just">
              <a:lnSpc>
                <a:spcPct val="150000"/>
              </a:lnSpc>
              <a:spcBef>
                <a:spcPts val="1200"/>
              </a:spcBef>
              <a:spcAft>
                <a:spcPts val="1200"/>
              </a:spcAft>
              <a:buSzPts val="1800"/>
              <a:buNone/>
            </a:pPr>
            <a:r>
              <a:t/>
            </a:r>
            <a:endParaRPr/>
          </a:p>
        </p:txBody>
      </p:sp>
      <p:pic>
        <p:nvPicPr>
          <p:cNvPr id="126" name="Google Shape;126;g1f7df07e45e_0_62"/>
          <p:cNvPicPr preferRelativeResize="0"/>
          <p:nvPr/>
        </p:nvPicPr>
        <p:blipFill>
          <a:blip r:embed="rId3">
            <a:alphaModFix/>
          </a:blip>
          <a:stretch>
            <a:fillRect/>
          </a:stretch>
        </p:blipFill>
        <p:spPr>
          <a:xfrm>
            <a:off x="284500" y="3123550"/>
            <a:ext cx="8575001" cy="14189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
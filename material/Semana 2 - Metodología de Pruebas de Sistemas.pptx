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oboto Slab"/>
      <p:regular r:id="rId15"/>
      <p:bold r:id="rId16"/>
    </p:embeddedFont>
    <p:embeddedFont>
      <p:font typeface="Robo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1" roundtripDataSignature="AMtx7mhPs35mCqqL5qzsuI5NxmTjwSiA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Slab-regular.fntdata"/><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font" Target="fonts/RobotoSlab-bold.fntdata"/><Relationship Id="rId5" Type="http://schemas.openxmlformats.org/officeDocument/2006/relationships/notesMaster" Target="notesMasters/notesMaster1.xml"/><Relationship Id="rId19" Type="http://schemas.openxmlformats.org/officeDocument/2006/relationships/font" Target="fonts/Roboto-italic.fntdata"/><Relationship Id="rId6" Type="http://schemas.openxmlformats.org/officeDocument/2006/relationships/slide" Target="slides/slide1.xml"/><Relationship Id="rId18"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1f79d3b614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1f79d3b6149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46a004132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346a004132a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46a004132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346a004132a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46a004132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46a004132a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6a004132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g346a004132a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46a004132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g346a004132a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46a004132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g346a004132a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46a004132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346a004132a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4"/>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14"/>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14"/>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14"/>
          <p:cNvSpPr txBox="1"/>
          <p:nvPr>
            <p:ph type="ctrTitle"/>
          </p:nvPr>
        </p:nvSpPr>
        <p:spPr>
          <a:xfrm>
            <a:off x="1680302" y="1188925"/>
            <a:ext cx="5783400" cy="1457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000"/>
              <a:buNone/>
              <a:defRPr sz="4000"/>
            </a:lvl1pPr>
            <a:lvl2pPr lvl="1" algn="ctr">
              <a:lnSpc>
                <a:spcPct val="100000"/>
              </a:lnSpc>
              <a:spcBef>
                <a:spcPts val="0"/>
              </a:spcBef>
              <a:spcAft>
                <a:spcPts val="0"/>
              </a:spcAft>
              <a:buSzPts val="4000"/>
              <a:buNone/>
              <a:defRPr sz="4000"/>
            </a:lvl2pPr>
            <a:lvl3pPr lvl="2" algn="ctr">
              <a:lnSpc>
                <a:spcPct val="100000"/>
              </a:lnSpc>
              <a:spcBef>
                <a:spcPts val="0"/>
              </a:spcBef>
              <a:spcAft>
                <a:spcPts val="0"/>
              </a:spcAft>
              <a:buSzPts val="4000"/>
              <a:buNone/>
              <a:defRPr sz="4000"/>
            </a:lvl3pPr>
            <a:lvl4pPr lvl="3" algn="ctr">
              <a:lnSpc>
                <a:spcPct val="100000"/>
              </a:lnSpc>
              <a:spcBef>
                <a:spcPts val="0"/>
              </a:spcBef>
              <a:spcAft>
                <a:spcPts val="0"/>
              </a:spcAft>
              <a:buSzPts val="4000"/>
              <a:buNone/>
              <a:defRPr sz="4000"/>
            </a:lvl4pPr>
            <a:lvl5pPr lvl="4" algn="ctr">
              <a:lnSpc>
                <a:spcPct val="100000"/>
              </a:lnSpc>
              <a:spcBef>
                <a:spcPts val="0"/>
              </a:spcBef>
              <a:spcAft>
                <a:spcPts val="0"/>
              </a:spcAft>
              <a:buSzPts val="4000"/>
              <a:buNone/>
              <a:defRPr sz="4000"/>
            </a:lvl5pPr>
            <a:lvl6pPr lvl="5" algn="ctr">
              <a:lnSpc>
                <a:spcPct val="100000"/>
              </a:lnSpc>
              <a:spcBef>
                <a:spcPts val="0"/>
              </a:spcBef>
              <a:spcAft>
                <a:spcPts val="0"/>
              </a:spcAft>
              <a:buSzPts val="4000"/>
              <a:buNone/>
              <a:defRPr sz="4000"/>
            </a:lvl6pPr>
            <a:lvl7pPr lvl="6" algn="ctr">
              <a:lnSpc>
                <a:spcPct val="100000"/>
              </a:lnSpc>
              <a:spcBef>
                <a:spcPts val="0"/>
              </a:spcBef>
              <a:spcAft>
                <a:spcPts val="0"/>
              </a:spcAft>
              <a:buSzPts val="4000"/>
              <a:buNone/>
              <a:defRPr sz="4000"/>
            </a:lvl7pPr>
            <a:lvl8pPr lvl="7" algn="ctr">
              <a:lnSpc>
                <a:spcPct val="100000"/>
              </a:lnSpc>
              <a:spcBef>
                <a:spcPts val="0"/>
              </a:spcBef>
              <a:spcAft>
                <a:spcPts val="0"/>
              </a:spcAft>
              <a:buSzPts val="4000"/>
              <a:buNone/>
              <a:defRPr sz="4000"/>
            </a:lvl8pPr>
            <a:lvl9pPr lvl="8" algn="ctr">
              <a:lnSpc>
                <a:spcPct val="100000"/>
              </a:lnSpc>
              <a:spcBef>
                <a:spcPts val="0"/>
              </a:spcBef>
              <a:spcAft>
                <a:spcPts val="0"/>
              </a:spcAft>
              <a:buSzPts val="4000"/>
              <a:buNone/>
              <a:defRPr sz="4000"/>
            </a:lvl9pPr>
          </a:lstStyle>
          <a:p/>
        </p:txBody>
      </p:sp>
      <p:sp>
        <p:nvSpPr>
          <p:cNvPr id="14" name="Google Shape;14;p14"/>
          <p:cNvSpPr txBox="1"/>
          <p:nvPr>
            <p:ph idx="1" type="subTitle"/>
          </p:nvPr>
        </p:nvSpPr>
        <p:spPr>
          <a:xfrm>
            <a:off x="1680302" y="3049450"/>
            <a:ext cx="5783400" cy="9090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cxnSp>
        <p:nvCxnSpPr>
          <p:cNvPr id="17" name="Google Shape;17;p1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15"/>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 name="Google Shape;19;p15"/>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cxnSp>
        <p:nvCxnSpPr>
          <p:cNvPr id="22" name="Google Shape;22;p16"/>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23" name="Google Shape;23;p16"/>
          <p:cNvSpPr txBox="1"/>
          <p:nvPr>
            <p:ph type="title"/>
          </p:nvPr>
        </p:nvSpPr>
        <p:spPr>
          <a:xfrm>
            <a:off x="480750" y="1764950"/>
            <a:ext cx="8222100" cy="907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4" name="Google Shape;2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17"/>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17"/>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8" name="Google Shape;28;p17"/>
          <p:cNvSpPr txBox="1"/>
          <p:nvPr>
            <p:ph idx="1" type="body"/>
          </p:nvPr>
        </p:nvSpPr>
        <p:spPr>
          <a:xfrm>
            <a:off x="387900" y="1489825"/>
            <a:ext cx="3999900" cy="3078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17"/>
          <p:cNvSpPr txBox="1"/>
          <p:nvPr>
            <p:ph idx="2" type="body"/>
          </p:nvPr>
        </p:nvSpPr>
        <p:spPr>
          <a:xfrm>
            <a:off x="4756200" y="1489825"/>
            <a:ext cx="3999900" cy="3078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18"/>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3" name="Google Shape;33;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19"/>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19"/>
          <p:cNvSpPr txBox="1"/>
          <p:nvPr>
            <p:ph type="title"/>
          </p:nvPr>
        </p:nvSpPr>
        <p:spPr>
          <a:xfrm>
            <a:off x="3879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7" name="Google Shape;37;p19"/>
          <p:cNvSpPr txBox="1"/>
          <p:nvPr>
            <p:ph idx="1" type="body"/>
          </p:nvPr>
        </p:nvSpPr>
        <p:spPr>
          <a:xfrm>
            <a:off x="387900" y="1594025"/>
            <a:ext cx="2808000" cy="26811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 name="Google Shape;3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20"/>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1" name="Google Shape;41;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21"/>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4" name="Google Shape;44;p21"/>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21"/>
          <p:cNvSpPr txBox="1"/>
          <p:nvPr>
            <p:ph type="title"/>
          </p:nvPr>
        </p:nvSpPr>
        <p:spPr>
          <a:xfrm>
            <a:off x="265500" y="1209075"/>
            <a:ext cx="4045200" cy="1506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46" name="Google Shape;46;p21"/>
          <p:cNvSpPr txBox="1"/>
          <p:nvPr>
            <p:ph idx="1" type="subTitle"/>
          </p:nvPr>
        </p:nvSpPr>
        <p:spPr>
          <a:xfrm>
            <a:off x="265500" y="27690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22"/>
          <p:cNvSpPr txBox="1"/>
          <p:nvPr>
            <p:ph idx="1" type="body"/>
          </p:nvPr>
        </p:nvSpPr>
        <p:spPr>
          <a:xfrm>
            <a:off x="319500" y="4233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23"/>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3"/>
          <p:cNvSpPr txBox="1"/>
          <p:nvPr>
            <p:ph hasCustomPrompt="1" type="title"/>
          </p:nvPr>
        </p:nvSpPr>
        <p:spPr>
          <a:xfrm>
            <a:off x="387900" y="1152450"/>
            <a:ext cx="83682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5"/>
              </a:buClr>
              <a:buSzPts val="13000"/>
              <a:buNone/>
              <a:defRPr sz="13000">
                <a:solidFill>
                  <a:schemeClr val="accent5"/>
                </a:solidFill>
              </a:defRPr>
            </a:lvl1pPr>
            <a:lvl2pPr lvl="1" algn="ctr">
              <a:lnSpc>
                <a:spcPct val="100000"/>
              </a:lnSpc>
              <a:spcBef>
                <a:spcPts val="0"/>
              </a:spcBef>
              <a:spcAft>
                <a:spcPts val="0"/>
              </a:spcAft>
              <a:buClr>
                <a:schemeClr val="accent5"/>
              </a:buClr>
              <a:buSzPts val="13000"/>
              <a:buNone/>
              <a:defRPr sz="13000">
                <a:solidFill>
                  <a:schemeClr val="accent5"/>
                </a:solidFill>
              </a:defRPr>
            </a:lvl2pPr>
            <a:lvl3pPr lvl="2" algn="ctr">
              <a:lnSpc>
                <a:spcPct val="100000"/>
              </a:lnSpc>
              <a:spcBef>
                <a:spcPts val="0"/>
              </a:spcBef>
              <a:spcAft>
                <a:spcPts val="0"/>
              </a:spcAft>
              <a:buClr>
                <a:schemeClr val="accent5"/>
              </a:buClr>
              <a:buSzPts val="13000"/>
              <a:buNone/>
              <a:defRPr sz="13000">
                <a:solidFill>
                  <a:schemeClr val="accent5"/>
                </a:solidFill>
              </a:defRPr>
            </a:lvl3pPr>
            <a:lvl4pPr lvl="3" algn="ctr">
              <a:lnSpc>
                <a:spcPct val="100000"/>
              </a:lnSpc>
              <a:spcBef>
                <a:spcPts val="0"/>
              </a:spcBef>
              <a:spcAft>
                <a:spcPts val="0"/>
              </a:spcAft>
              <a:buClr>
                <a:schemeClr val="accent5"/>
              </a:buClr>
              <a:buSzPts val="13000"/>
              <a:buNone/>
              <a:defRPr sz="13000">
                <a:solidFill>
                  <a:schemeClr val="accent5"/>
                </a:solidFill>
              </a:defRPr>
            </a:lvl4pPr>
            <a:lvl5pPr lvl="4" algn="ctr">
              <a:lnSpc>
                <a:spcPct val="100000"/>
              </a:lnSpc>
              <a:spcBef>
                <a:spcPts val="0"/>
              </a:spcBef>
              <a:spcAft>
                <a:spcPts val="0"/>
              </a:spcAft>
              <a:buClr>
                <a:schemeClr val="accent5"/>
              </a:buClr>
              <a:buSzPts val="13000"/>
              <a:buNone/>
              <a:defRPr sz="13000">
                <a:solidFill>
                  <a:schemeClr val="accent5"/>
                </a:solidFill>
              </a:defRPr>
            </a:lvl5pPr>
            <a:lvl6pPr lvl="5" algn="ctr">
              <a:lnSpc>
                <a:spcPct val="100000"/>
              </a:lnSpc>
              <a:spcBef>
                <a:spcPts val="0"/>
              </a:spcBef>
              <a:spcAft>
                <a:spcPts val="0"/>
              </a:spcAft>
              <a:buClr>
                <a:schemeClr val="accent5"/>
              </a:buClr>
              <a:buSzPts val="13000"/>
              <a:buNone/>
              <a:defRPr sz="13000">
                <a:solidFill>
                  <a:schemeClr val="accent5"/>
                </a:solidFill>
              </a:defRPr>
            </a:lvl6pPr>
            <a:lvl7pPr lvl="6" algn="ctr">
              <a:lnSpc>
                <a:spcPct val="100000"/>
              </a:lnSpc>
              <a:spcBef>
                <a:spcPts val="0"/>
              </a:spcBef>
              <a:spcAft>
                <a:spcPts val="0"/>
              </a:spcAft>
              <a:buClr>
                <a:schemeClr val="accent5"/>
              </a:buClr>
              <a:buSzPts val="13000"/>
              <a:buNone/>
              <a:defRPr sz="13000">
                <a:solidFill>
                  <a:schemeClr val="accent5"/>
                </a:solidFill>
              </a:defRPr>
            </a:lvl7pPr>
            <a:lvl8pPr lvl="7" algn="ctr">
              <a:lnSpc>
                <a:spcPct val="100000"/>
              </a:lnSpc>
              <a:spcBef>
                <a:spcPts val="0"/>
              </a:spcBef>
              <a:spcAft>
                <a:spcPts val="0"/>
              </a:spcAft>
              <a:buClr>
                <a:schemeClr val="accent5"/>
              </a:buClr>
              <a:buSzPts val="13000"/>
              <a:buNone/>
              <a:defRPr sz="13000">
                <a:solidFill>
                  <a:schemeClr val="accent5"/>
                </a:solidFill>
              </a:defRPr>
            </a:lvl8pPr>
            <a:lvl9pPr lvl="8" algn="ctr">
              <a:lnSpc>
                <a:spcPct val="100000"/>
              </a:lnSpc>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23"/>
          <p:cNvSpPr txBox="1"/>
          <p:nvPr>
            <p:ph idx="1" type="body"/>
          </p:nvPr>
        </p:nvSpPr>
        <p:spPr>
          <a:xfrm>
            <a:off x="387900" y="2919450"/>
            <a:ext cx="83682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6" name="Google Shape;56;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1pPr>
            <a:lvl2pPr lvl="1"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2pPr>
            <a:lvl3pPr lvl="2"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3pPr>
            <a:lvl4pPr lvl="3"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4pPr>
            <a:lvl5pPr lvl="4"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5pPr>
            <a:lvl6pPr lvl="5"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6pPr>
            <a:lvl7pPr lvl="6"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7pPr>
            <a:lvl8pPr lvl="7"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8pPr>
            <a:lvl9pPr lvl="8"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9pPr>
          </a:lstStyle>
          <a:p/>
        </p:txBody>
      </p:sp>
      <p:sp>
        <p:nvSpPr>
          <p:cNvPr id="7" name="Google Shape;7;p13"/>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1pPr>
            <a:lvl2pPr indent="-317500" lvl="1" marL="914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2pPr>
            <a:lvl3pPr indent="-317500" lvl="2" marL="1371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3pPr>
            <a:lvl4pPr indent="-317500" lvl="3" marL="1828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4pPr>
            <a:lvl5pPr indent="-317500" lvl="4" marL="22860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5pPr>
            <a:lvl6pPr indent="-317500" lvl="5" marL="27432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6pPr>
            <a:lvl7pPr indent="-317500" lvl="6" marL="3200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7pPr>
            <a:lvl8pPr indent="-317500" lvl="7" marL="3657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8pPr>
            <a:lvl9pPr indent="-317500" lvl="8" marL="4114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1900">
        <p14:gallery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
          <p:cNvSpPr txBox="1"/>
          <p:nvPr>
            <p:ph type="ctrTitle"/>
          </p:nvPr>
        </p:nvSpPr>
        <p:spPr>
          <a:xfrm>
            <a:off x="768425" y="1188925"/>
            <a:ext cx="7609800" cy="14574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000"/>
              <a:buNone/>
            </a:pPr>
            <a:r>
              <a:rPr lang="es"/>
              <a:t>Semana 2 - Caja Negra</a:t>
            </a:r>
            <a:endParaRPr/>
          </a:p>
        </p:txBody>
      </p:sp>
      <p:sp>
        <p:nvSpPr>
          <p:cNvPr id="64" name="Google Shape;64;p1"/>
          <p:cNvSpPr txBox="1"/>
          <p:nvPr>
            <p:ph idx="1" type="subTitle"/>
          </p:nvPr>
        </p:nvSpPr>
        <p:spPr>
          <a:xfrm>
            <a:off x="1680302" y="3049450"/>
            <a:ext cx="5783400" cy="9090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s"/>
              <a:t>Prof. Kevin Del Bello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g1f79d3b6149_0_4"/>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rPr lang="es" sz="5600"/>
              <a:t>Esta estrategia de testing ve al programa como una caja negra, donde el comportamiento interno del software y su estructura no es importante. En vez de eso, se concentra en encontrar las circunstancias en las cuales un software no se comporta según su especificación.</a:t>
            </a:r>
            <a:endParaRPr sz="5600"/>
          </a:p>
          <a:p>
            <a:pPr indent="0" lvl="0" marL="0" rtl="0" algn="just">
              <a:lnSpc>
                <a:spcPct val="150000"/>
              </a:lnSpc>
              <a:spcBef>
                <a:spcPts val="1200"/>
              </a:spcBef>
              <a:spcAft>
                <a:spcPts val="0"/>
              </a:spcAft>
              <a:buSzPct val="128571"/>
              <a:buNone/>
            </a:pPr>
            <a:r>
              <a:rPr lang="es" sz="5600"/>
              <a:t>Con esta estrategia, la información de entrada de los casos de prueba se deriva únicamente de las especificaciones de requerimientos. Es decir, sin tener la ventaja del conocimiento de la estructura interna del programa.</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70" name="Google Shape;70;g1f79d3b6149_0_4"/>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Estrategia de Caja Negra</a:t>
            </a:r>
            <a:endParaRPr/>
          </a:p>
        </p:txBody>
      </p:sp>
      <p:pic>
        <p:nvPicPr>
          <p:cNvPr id="71" name="Google Shape;71;g1f79d3b6149_0_4"/>
          <p:cNvPicPr preferRelativeResize="0"/>
          <p:nvPr/>
        </p:nvPicPr>
        <p:blipFill>
          <a:blip r:embed="rId3">
            <a:alphaModFix/>
          </a:blip>
          <a:stretch>
            <a:fillRect/>
          </a:stretch>
        </p:blipFill>
        <p:spPr>
          <a:xfrm>
            <a:off x="5646400" y="0"/>
            <a:ext cx="3497600" cy="2036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346a004132a_0_14"/>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t/>
            </a:r>
            <a:endParaRPr sz="5600"/>
          </a:p>
          <a:p>
            <a:pPr indent="-317500" lvl="0" marL="457200" rtl="0" algn="just">
              <a:lnSpc>
                <a:spcPct val="150000"/>
              </a:lnSpc>
              <a:spcBef>
                <a:spcPts val="1200"/>
              </a:spcBef>
              <a:spcAft>
                <a:spcPts val="0"/>
              </a:spcAft>
              <a:buSzPct val="100000"/>
              <a:buChar char="★"/>
            </a:pPr>
            <a:r>
              <a:rPr lang="es" sz="5600"/>
              <a:t>No requiere acceso al código: Los testers no necesitan conocimientos de programación, solo los requisitos.</a:t>
            </a:r>
            <a:endParaRPr sz="5600"/>
          </a:p>
          <a:p>
            <a:pPr indent="-317500" lvl="0" marL="457200" rtl="0" algn="just">
              <a:lnSpc>
                <a:spcPct val="150000"/>
              </a:lnSpc>
              <a:spcBef>
                <a:spcPts val="0"/>
              </a:spcBef>
              <a:spcAft>
                <a:spcPts val="0"/>
              </a:spcAft>
              <a:buSzPct val="100000"/>
              <a:buChar char="★"/>
            </a:pPr>
            <a:r>
              <a:rPr lang="es" sz="5600"/>
              <a:t>Prueba la funcionalidad real: Se enfoca en lo que el usuario realmente verá y experimentará.</a:t>
            </a:r>
            <a:endParaRPr sz="5600"/>
          </a:p>
          <a:p>
            <a:pPr indent="-317500" lvl="0" marL="457200" rtl="0" algn="just">
              <a:lnSpc>
                <a:spcPct val="150000"/>
              </a:lnSpc>
              <a:spcBef>
                <a:spcPts val="0"/>
              </a:spcBef>
              <a:spcAft>
                <a:spcPts val="0"/>
              </a:spcAft>
              <a:buSzPct val="100000"/>
              <a:buChar char="★"/>
            </a:pPr>
            <a:r>
              <a:rPr lang="es" sz="5600"/>
              <a:t>Ideal para pruebas de integración y aceptación: Se asegura de que el sistema se comporte como se espera a nivel funcional.</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77" name="Google Shape;77;g346a004132a_0_14"/>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Ventajas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46a004132a_0_20"/>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t/>
            </a:r>
            <a:endParaRPr sz="5600"/>
          </a:p>
          <a:p>
            <a:pPr indent="-317500" lvl="0" marL="457200" rtl="0" algn="just">
              <a:lnSpc>
                <a:spcPct val="150000"/>
              </a:lnSpc>
              <a:spcBef>
                <a:spcPts val="1200"/>
              </a:spcBef>
              <a:spcAft>
                <a:spcPts val="0"/>
              </a:spcAft>
              <a:buSzPct val="100000"/>
              <a:buChar char="★"/>
            </a:pPr>
            <a:r>
              <a:rPr lang="es" sz="5600"/>
              <a:t>No cubre el código interno: No se pueden detectar fallos internos, como errores de lógica o problemas de rendimiento.</a:t>
            </a:r>
            <a:endParaRPr sz="5600"/>
          </a:p>
          <a:p>
            <a:pPr indent="-317500" lvl="0" marL="457200" rtl="0" algn="just">
              <a:lnSpc>
                <a:spcPct val="150000"/>
              </a:lnSpc>
              <a:spcBef>
                <a:spcPts val="0"/>
              </a:spcBef>
              <a:spcAft>
                <a:spcPts val="0"/>
              </a:spcAft>
              <a:buSzPct val="100000"/>
              <a:buChar char="★"/>
            </a:pPr>
            <a:r>
              <a:rPr lang="es" sz="5600"/>
              <a:t>Dependencia de los requisitos: Si los requisitos no están bien definidos o son ambiguos, las pruebas pueden no ser efectivas.</a:t>
            </a:r>
            <a:endParaRPr sz="5600"/>
          </a:p>
          <a:p>
            <a:pPr indent="-317500" lvl="0" marL="457200" rtl="0" algn="just">
              <a:lnSpc>
                <a:spcPct val="150000"/>
              </a:lnSpc>
              <a:spcBef>
                <a:spcPts val="0"/>
              </a:spcBef>
              <a:spcAft>
                <a:spcPts val="0"/>
              </a:spcAft>
              <a:buSzPct val="100000"/>
              <a:buChar char="★"/>
            </a:pPr>
            <a:r>
              <a:rPr lang="es" sz="5600"/>
              <a:t>Cobertura limitada: Al probar solo un valor representativo, es posible que no se detecten todos los posibles errores.</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83" name="Google Shape;83;g346a004132a_0_20"/>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Limitaciones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46a004132a_0_25"/>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None/>
            </a:pPr>
            <a:r>
              <a:rPr lang="es" sz="5600"/>
              <a:t>Una Historia de Usuario es una forma de especificación de requerimientos muy utilizada hoy en día. Es una forma corta y con pocos detalles de implementación, y está más centrada, como su nombre lo indica, en el usuario.</a:t>
            </a:r>
            <a:endParaRPr sz="5600"/>
          </a:p>
          <a:p>
            <a:pPr indent="0" lvl="0" marL="0" rtl="0" algn="just">
              <a:lnSpc>
                <a:spcPct val="150000"/>
              </a:lnSpc>
              <a:spcBef>
                <a:spcPts val="1200"/>
              </a:spcBef>
              <a:spcAft>
                <a:spcPts val="0"/>
              </a:spcAft>
              <a:buSzPct val="128571"/>
              <a:buNone/>
            </a:pPr>
            <a:r>
              <a:rPr i="1" lang="es" sz="5600" u="sng"/>
              <a:t>Como &lt;ROL&gt; quiero &lt;Funcionalidad&gt; para &lt;Valor de negocio&gt;</a:t>
            </a:r>
            <a:endParaRPr i="1" sz="5600" u="sng"/>
          </a:p>
          <a:p>
            <a:pPr indent="0" lvl="0" marL="0" rtl="0" algn="just">
              <a:lnSpc>
                <a:spcPct val="150000"/>
              </a:lnSpc>
              <a:spcBef>
                <a:spcPts val="1200"/>
              </a:spcBef>
              <a:spcAft>
                <a:spcPts val="0"/>
              </a:spcAft>
              <a:buSzPct val="128571"/>
              <a:buNone/>
            </a:pPr>
            <a:r>
              <a:rPr lang="es" sz="5600"/>
              <a:t>Esto nos permite saber qué usuario utilizará esa funcionalidad, qué es lo que quiere hacer el usuario y además nos da un valor de negocio para ayudarnos a priorizar las funcionalidades.</a:t>
            </a:r>
            <a:endParaRPr sz="5600"/>
          </a:p>
          <a:p>
            <a:pPr indent="0" lvl="0" marL="0" rtl="0" algn="just">
              <a:lnSpc>
                <a:spcPct val="150000"/>
              </a:lnSpc>
              <a:spcBef>
                <a:spcPts val="1200"/>
              </a:spcBef>
              <a:spcAft>
                <a:spcPts val="0"/>
              </a:spcAft>
              <a:buSzPct val="128571"/>
              <a:buNone/>
            </a:pPr>
            <a:r>
              <a:rPr lang="es" sz="5600"/>
              <a:t>Las  Historias de Usuario además tienen:</a:t>
            </a:r>
            <a:endParaRPr sz="5600"/>
          </a:p>
          <a:p>
            <a:pPr indent="-317500" lvl="0" marL="457200" rtl="0" algn="just">
              <a:lnSpc>
                <a:spcPct val="150000"/>
              </a:lnSpc>
              <a:spcBef>
                <a:spcPts val="1200"/>
              </a:spcBef>
              <a:spcAft>
                <a:spcPts val="0"/>
              </a:spcAft>
              <a:buSzPct val="100000"/>
              <a:buChar char="●"/>
            </a:pPr>
            <a:r>
              <a:rPr lang="es" sz="5600"/>
              <a:t>L</a:t>
            </a:r>
            <a:r>
              <a:rPr lang="es" sz="5600"/>
              <a:t>os llamados criterios de aceptación, que son criterios que nuestro usuario final utilizará para determinar si aceptará o no una funcionalidad desarrollada. </a:t>
            </a:r>
            <a:endParaRPr sz="5600"/>
          </a:p>
          <a:p>
            <a:pPr indent="-317500" lvl="0" marL="457200" rtl="0" algn="just">
              <a:lnSpc>
                <a:spcPct val="150000"/>
              </a:lnSpc>
              <a:spcBef>
                <a:spcPts val="0"/>
              </a:spcBef>
              <a:spcAft>
                <a:spcPts val="0"/>
              </a:spcAft>
              <a:buSzPct val="100000"/>
              <a:buChar char="●"/>
            </a:pPr>
            <a:r>
              <a:rPr lang="es" sz="5600"/>
              <a:t>Se pueden agregar notas, lo que permitirá agregar </a:t>
            </a:r>
            <a:r>
              <a:rPr lang="es" sz="5600"/>
              <a:t>aún</a:t>
            </a:r>
            <a:r>
              <a:rPr lang="es" sz="5600"/>
              <a:t> más información a la Historia de Usuario que no necesariamente se expresa en los criterios de aceptación.</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89" name="Google Shape;89;g346a004132a_0_25"/>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Relación con Historias de Usuario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346a004132a_0_30"/>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Ejemplo Historias de Usuario</a:t>
            </a:r>
            <a:endParaRPr/>
          </a:p>
        </p:txBody>
      </p:sp>
      <p:pic>
        <p:nvPicPr>
          <p:cNvPr id="95" name="Google Shape;95;g346a004132a_0_30"/>
          <p:cNvPicPr preferRelativeResize="0"/>
          <p:nvPr/>
        </p:nvPicPr>
        <p:blipFill>
          <a:blip r:embed="rId3">
            <a:alphaModFix/>
          </a:blip>
          <a:stretch>
            <a:fillRect/>
          </a:stretch>
        </p:blipFill>
        <p:spPr>
          <a:xfrm>
            <a:off x="1199625" y="1078975"/>
            <a:ext cx="6744757" cy="3890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46a004132a_0_37"/>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317500" lvl="0" marL="457200" rtl="0" algn="just">
              <a:lnSpc>
                <a:spcPct val="150000"/>
              </a:lnSpc>
              <a:spcBef>
                <a:spcPts val="1200"/>
              </a:spcBef>
              <a:spcAft>
                <a:spcPts val="0"/>
              </a:spcAft>
              <a:buSzPct val="100000"/>
              <a:buChar char="●"/>
            </a:pPr>
            <a:r>
              <a:rPr lang="es" sz="5600"/>
              <a:t>Alineación entre los requerimientos y las pruebas: Las historias de usuario proporcionan un marco claro de lo que debe hacer el sistema, y las pruebas de Caja Negra garantizan que se cumpla esa funcionalidad de manera efectiva, sin necesidad de ver el código.</a:t>
            </a:r>
            <a:endParaRPr sz="5600"/>
          </a:p>
          <a:p>
            <a:pPr indent="-317500" lvl="0" marL="457200" rtl="0" algn="just">
              <a:lnSpc>
                <a:spcPct val="150000"/>
              </a:lnSpc>
              <a:spcBef>
                <a:spcPts val="0"/>
              </a:spcBef>
              <a:spcAft>
                <a:spcPts val="0"/>
              </a:spcAft>
              <a:buSzPct val="100000"/>
              <a:buChar char="●"/>
            </a:pPr>
            <a:r>
              <a:rPr lang="es" sz="5600"/>
              <a:t>Cobertura completa: Al realizar pruebas basadas en las historias de usuario, aseguramos que el sistema cumple con los requerimientos del usuario final.</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101" name="Google Shape;101;g346a004132a_0_37"/>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Beneficios de esta relación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46a004132a_0_3"/>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rPr lang="es" sz="5600"/>
              <a:t>Vamos a partir de un requerimiento sencillo: Vamos a testear un programa desde un formulario web, en el que el usuario debe ingresar una edad de 18 años o más para poder registrarse en la página.</a:t>
            </a:r>
            <a:endParaRPr sz="5600"/>
          </a:p>
          <a:p>
            <a:pPr indent="0" lvl="0" marL="0" rtl="0" algn="just">
              <a:lnSpc>
                <a:spcPct val="150000"/>
              </a:lnSpc>
              <a:spcBef>
                <a:spcPts val="1200"/>
              </a:spcBef>
              <a:spcAft>
                <a:spcPts val="0"/>
              </a:spcAft>
              <a:buSzPct val="128571"/>
              <a:buNone/>
            </a:pPr>
            <a:r>
              <a:rPr lang="es" sz="5600"/>
              <a:t>A partir de esto, tenemos algunas técnicas que podemos </a:t>
            </a:r>
            <a:r>
              <a:rPr lang="es" sz="5600"/>
              <a:t>utilizar</a:t>
            </a:r>
            <a:r>
              <a:rPr lang="es" sz="5600"/>
              <a:t> para probar el programa</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rPr b="1" lang="es" sz="5600"/>
              <a:t>Partición de Equivalencia</a:t>
            </a:r>
            <a:r>
              <a:rPr lang="es" sz="5600"/>
              <a:t> → Agrupa datos en clases válidas e inválidas.</a:t>
            </a:r>
            <a:endParaRPr sz="5600"/>
          </a:p>
          <a:p>
            <a:pPr indent="0" lvl="0" marL="0" rtl="0" algn="just">
              <a:lnSpc>
                <a:spcPct val="150000"/>
              </a:lnSpc>
              <a:spcBef>
                <a:spcPts val="1200"/>
              </a:spcBef>
              <a:spcAft>
                <a:spcPts val="0"/>
              </a:spcAft>
              <a:buSzPct val="128571"/>
              <a:buNone/>
            </a:pPr>
            <a:r>
              <a:rPr lang="es" sz="5600"/>
              <a:t>✅ Entrada válida: Edad = 25 (pertenece a la clase válida).</a:t>
            </a:r>
            <a:endParaRPr sz="5600"/>
          </a:p>
          <a:p>
            <a:pPr indent="0" lvl="0" marL="0" rtl="0" algn="just">
              <a:lnSpc>
                <a:spcPct val="150000"/>
              </a:lnSpc>
              <a:spcBef>
                <a:spcPts val="1200"/>
              </a:spcBef>
              <a:spcAft>
                <a:spcPts val="0"/>
              </a:spcAft>
              <a:buSzPct val="128571"/>
              <a:buNone/>
            </a:pPr>
            <a:r>
              <a:rPr lang="es" sz="5600"/>
              <a:t>❌ Entrada inválida: Edad = 14 (pertenece a la clase inválida).</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107" name="Google Shape;107;g346a004132a_0_3"/>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Ejemplo de Caja Negra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46a004132a_0_9"/>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rPr b="1" lang="es" sz="5600"/>
              <a:t>Análisis de Valores Límite </a:t>
            </a:r>
            <a:r>
              <a:rPr lang="es" sz="5600"/>
              <a:t>→ Probar los límites mínimo y máximo de una condición.</a:t>
            </a:r>
            <a:endParaRPr sz="5600"/>
          </a:p>
          <a:p>
            <a:pPr indent="0" lvl="0" marL="0" rtl="0" algn="just">
              <a:lnSpc>
                <a:spcPct val="150000"/>
              </a:lnSpc>
              <a:spcBef>
                <a:spcPts val="1200"/>
              </a:spcBef>
              <a:spcAft>
                <a:spcPts val="0"/>
              </a:spcAft>
              <a:buSzPct val="128571"/>
              <a:buNone/>
            </a:pPr>
            <a:r>
              <a:rPr lang="es" sz="5600"/>
              <a:t>❌ Límite inferior: Edad = 17 (justo antes del mínimo permitido).</a:t>
            </a:r>
            <a:endParaRPr sz="5600"/>
          </a:p>
          <a:p>
            <a:pPr indent="0" lvl="0" marL="0" rtl="0" algn="just">
              <a:lnSpc>
                <a:spcPct val="150000"/>
              </a:lnSpc>
              <a:spcBef>
                <a:spcPts val="1200"/>
              </a:spcBef>
              <a:spcAft>
                <a:spcPts val="0"/>
              </a:spcAft>
              <a:buSzPct val="128571"/>
              <a:buNone/>
            </a:pPr>
            <a:r>
              <a:rPr lang="es" sz="5600"/>
              <a:t>✅ Límite superior: Edad = 18 (mínimo permitido).</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rPr b="1" lang="es" sz="5600"/>
              <a:t>Valores fuera de rango</a:t>
            </a:r>
            <a:r>
              <a:rPr lang="es" sz="5600"/>
              <a:t> → Probar entradas extremas o inesperadas.</a:t>
            </a:r>
            <a:endParaRPr sz="5600"/>
          </a:p>
          <a:p>
            <a:pPr indent="0" lvl="0" marL="0" rtl="0" algn="just">
              <a:lnSpc>
                <a:spcPct val="150000"/>
              </a:lnSpc>
              <a:spcBef>
                <a:spcPts val="1200"/>
              </a:spcBef>
              <a:spcAft>
                <a:spcPts val="0"/>
              </a:spcAft>
              <a:buSzPct val="128571"/>
              <a:buNone/>
            </a:pPr>
            <a:r>
              <a:rPr lang="es" sz="5600"/>
              <a:t>❌ Valor fuera de rango: Edad = -5, 9999, “ABC”, valor nulo (no tienen sentido en el contexto).</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113" name="Google Shape;113;g346a004132a_0_9"/>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Ejemplo de Caja Negra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